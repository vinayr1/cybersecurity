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20"/>
  </p:notesMasterIdLst>
  <p:sldIdLst>
    <p:sldId id="256" r:id="rId2"/>
    <p:sldId id="257" r:id="rId3"/>
    <p:sldId id="258" r:id="rId4"/>
    <p:sldId id="259" r:id="rId5"/>
    <p:sldId id="260" r:id="rId6"/>
    <p:sldId id="262" r:id="rId7"/>
    <p:sldId id="263" r:id="rId8"/>
    <p:sldId id="261" r:id="rId9"/>
    <p:sldId id="269" r:id="rId10"/>
    <p:sldId id="264" r:id="rId11"/>
    <p:sldId id="265" r:id="rId12"/>
    <p:sldId id="271" r:id="rId13"/>
    <p:sldId id="272" r:id="rId14"/>
    <p:sldId id="273" r:id="rId15"/>
    <p:sldId id="266" r:id="rId16"/>
    <p:sldId id="267" r:id="rId17"/>
    <p:sldId id="274" r:id="rId18"/>
    <p:sldId id="268"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2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A41204-B716-4E78-8B61-73AD56A7A819}" type="datetimeFigureOut">
              <a:rPr lang="en-IN" smtClean="0"/>
              <a:t>16-02-2023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1DE261-6406-4572-9BB0-A944E4DE0389}" type="slidenum">
              <a:rPr lang="en-IN" smtClean="0"/>
              <a:t>‹#›</a:t>
            </a:fld>
            <a:endParaRPr lang="en-IN"/>
          </a:p>
        </p:txBody>
      </p:sp>
    </p:spTree>
    <p:extLst>
      <p:ext uri="{BB962C8B-B14F-4D97-AF65-F5344CB8AC3E}">
        <p14:creationId xmlns:p14="http://schemas.microsoft.com/office/powerpoint/2010/main" val="455643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1DE261-6406-4572-9BB0-A944E4DE0389}" type="slidenum">
              <a:rPr lang="en-IN" smtClean="0"/>
              <a:t>12</a:t>
            </a:fld>
            <a:endParaRPr lang="en-IN"/>
          </a:p>
        </p:txBody>
      </p:sp>
    </p:spTree>
    <p:extLst>
      <p:ext uri="{BB962C8B-B14F-4D97-AF65-F5344CB8AC3E}">
        <p14:creationId xmlns:p14="http://schemas.microsoft.com/office/powerpoint/2010/main" val="2013249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1DE261-6406-4572-9BB0-A944E4DE0389}" type="slidenum">
              <a:rPr lang="en-IN" smtClean="0"/>
              <a:t>16</a:t>
            </a:fld>
            <a:endParaRPr lang="en-IN"/>
          </a:p>
        </p:txBody>
      </p:sp>
    </p:spTree>
    <p:extLst>
      <p:ext uri="{BB962C8B-B14F-4D97-AF65-F5344CB8AC3E}">
        <p14:creationId xmlns:p14="http://schemas.microsoft.com/office/powerpoint/2010/main" val="26097237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266913" y="2655800"/>
            <a:ext cx="7743200" cy="1546400"/>
          </a:xfrm>
          <a:prstGeom prst="rect">
            <a:avLst/>
          </a:prstGeom>
        </p:spPr>
        <p:txBody>
          <a:bodyPr spcFirstLastPara="1" wrap="square" lIns="91425" tIns="91425" rIns="91425" bIns="91425" anchor="ctr" anchorCtr="0">
            <a:noAutofit/>
          </a:bodyPr>
          <a:lstStyle>
            <a:lvl1pPr lvl="0">
              <a:spcBef>
                <a:spcPts val="0"/>
              </a:spcBef>
              <a:spcAft>
                <a:spcPts val="0"/>
              </a:spcAft>
              <a:buSzPts val="5800"/>
              <a:buNone/>
              <a:defRPr sz="7733" b="1"/>
            </a:lvl1pPr>
            <a:lvl2pPr lvl="1">
              <a:spcBef>
                <a:spcPts val="0"/>
              </a:spcBef>
              <a:spcAft>
                <a:spcPts val="0"/>
              </a:spcAft>
              <a:buSzPts val="5800"/>
              <a:buNone/>
              <a:defRPr sz="7733" b="1"/>
            </a:lvl2pPr>
            <a:lvl3pPr lvl="2">
              <a:spcBef>
                <a:spcPts val="0"/>
              </a:spcBef>
              <a:spcAft>
                <a:spcPts val="0"/>
              </a:spcAft>
              <a:buSzPts val="5800"/>
              <a:buNone/>
              <a:defRPr sz="7733" b="1"/>
            </a:lvl3pPr>
            <a:lvl4pPr lvl="3">
              <a:spcBef>
                <a:spcPts val="0"/>
              </a:spcBef>
              <a:spcAft>
                <a:spcPts val="0"/>
              </a:spcAft>
              <a:buSzPts val="5800"/>
              <a:buNone/>
              <a:defRPr sz="7733" b="1"/>
            </a:lvl4pPr>
            <a:lvl5pPr lvl="4">
              <a:spcBef>
                <a:spcPts val="0"/>
              </a:spcBef>
              <a:spcAft>
                <a:spcPts val="0"/>
              </a:spcAft>
              <a:buSzPts val="5800"/>
              <a:buNone/>
              <a:defRPr sz="7733" b="1"/>
            </a:lvl5pPr>
            <a:lvl6pPr lvl="5">
              <a:spcBef>
                <a:spcPts val="0"/>
              </a:spcBef>
              <a:spcAft>
                <a:spcPts val="0"/>
              </a:spcAft>
              <a:buSzPts val="5800"/>
              <a:buNone/>
              <a:defRPr sz="7733" b="1"/>
            </a:lvl6pPr>
            <a:lvl7pPr lvl="6">
              <a:spcBef>
                <a:spcPts val="0"/>
              </a:spcBef>
              <a:spcAft>
                <a:spcPts val="0"/>
              </a:spcAft>
              <a:buSzPts val="5800"/>
              <a:buNone/>
              <a:defRPr sz="7733" b="1"/>
            </a:lvl7pPr>
            <a:lvl8pPr lvl="7">
              <a:spcBef>
                <a:spcPts val="0"/>
              </a:spcBef>
              <a:spcAft>
                <a:spcPts val="0"/>
              </a:spcAft>
              <a:buSzPts val="5800"/>
              <a:buNone/>
              <a:defRPr sz="7733" b="1"/>
            </a:lvl8pPr>
            <a:lvl9pPr lvl="8">
              <a:spcBef>
                <a:spcPts val="0"/>
              </a:spcBef>
              <a:spcAft>
                <a:spcPts val="0"/>
              </a:spcAft>
              <a:buSzPts val="5800"/>
              <a:buNone/>
              <a:defRPr sz="7733" b="1"/>
            </a:lvl9pPr>
          </a:lstStyle>
          <a:p>
            <a:r>
              <a:rPr lang="en-US"/>
              <a:t>Click to edit Master title style</a:t>
            </a:r>
            <a:endParaRPr/>
          </a:p>
        </p:txBody>
      </p:sp>
      <p:sp>
        <p:nvSpPr>
          <p:cNvPr id="11" name="Google Shape;11;p2"/>
          <p:cNvSpPr/>
          <p:nvPr/>
        </p:nvSpPr>
        <p:spPr>
          <a:xfrm>
            <a:off x="9783375" y="6173432"/>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 name="Google Shape;12;p2"/>
          <p:cNvSpPr/>
          <p:nvPr/>
        </p:nvSpPr>
        <p:spPr>
          <a:xfrm>
            <a:off x="10386991" y="5576535"/>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3" name="Google Shape;13;p2"/>
          <p:cNvSpPr/>
          <p:nvPr/>
        </p:nvSpPr>
        <p:spPr>
          <a:xfrm>
            <a:off x="11857671" y="4444464"/>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 name="Google Shape;14;p2"/>
          <p:cNvSpPr/>
          <p:nvPr/>
        </p:nvSpPr>
        <p:spPr>
          <a:xfrm>
            <a:off x="11695069" y="6565033"/>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5" name="Google Shape;15;p2"/>
          <p:cNvSpPr/>
          <p:nvPr/>
        </p:nvSpPr>
        <p:spPr>
          <a:xfrm>
            <a:off x="3181688" y="677512"/>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 name="Google Shape;16;p2"/>
          <p:cNvSpPr/>
          <p:nvPr/>
        </p:nvSpPr>
        <p:spPr>
          <a:xfrm>
            <a:off x="639280" y="3605307"/>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 name="Google Shape;17;p2"/>
          <p:cNvSpPr/>
          <p:nvPr/>
        </p:nvSpPr>
        <p:spPr>
          <a:xfrm>
            <a:off x="348720" y="857463"/>
            <a:ext cx="128400" cy="128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 name="Google Shape;18;p2"/>
          <p:cNvSpPr/>
          <p:nvPr/>
        </p:nvSpPr>
        <p:spPr>
          <a:xfrm>
            <a:off x="676313" y="1441151"/>
            <a:ext cx="256800" cy="2564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9" name="Google Shape;19;p2"/>
          <p:cNvSpPr/>
          <p:nvPr/>
        </p:nvSpPr>
        <p:spPr>
          <a:xfrm>
            <a:off x="11085359" y="4833763"/>
            <a:ext cx="192400" cy="1920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0" name="Google Shape;20;p2"/>
          <p:cNvSpPr/>
          <p:nvPr/>
        </p:nvSpPr>
        <p:spPr>
          <a:xfrm>
            <a:off x="11843811" y="5582348"/>
            <a:ext cx="192400" cy="1920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1" name="Google Shape;21;p2"/>
          <p:cNvSpPr/>
          <p:nvPr/>
        </p:nvSpPr>
        <p:spPr>
          <a:xfrm>
            <a:off x="211084" y="2128745"/>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2" name="Google Shape;22;p2"/>
          <p:cNvSpPr/>
          <p:nvPr/>
        </p:nvSpPr>
        <p:spPr>
          <a:xfrm>
            <a:off x="1861977" y="301904"/>
            <a:ext cx="256800" cy="2564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3" name="Google Shape;23;p2"/>
          <p:cNvSpPr/>
          <p:nvPr/>
        </p:nvSpPr>
        <p:spPr>
          <a:xfrm>
            <a:off x="823323" y="2667459"/>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4" name="Google Shape;24;p2"/>
          <p:cNvSpPr/>
          <p:nvPr/>
        </p:nvSpPr>
        <p:spPr>
          <a:xfrm>
            <a:off x="4567031" y="517173"/>
            <a:ext cx="76800" cy="768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5" name="Google Shape;25;p2"/>
          <p:cNvSpPr/>
          <p:nvPr/>
        </p:nvSpPr>
        <p:spPr>
          <a:xfrm>
            <a:off x="10685372" y="6090061"/>
            <a:ext cx="256800" cy="2564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515414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Subtitle">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3"/>
          <p:cNvSpPr txBox="1">
            <a:spLocks noGrp="1"/>
          </p:cNvSpPr>
          <p:nvPr>
            <p:ph type="ctrTitle"/>
          </p:nvPr>
        </p:nvSpPr>
        <p:spPr>
          <a:xfrm>
            <a:off x="2061367" y="2339725"/>
            <a:ext cx="7776800" cy="15464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5867" b="1"/>
            </a:lvl1pPr>
            <a:lvl2pPr lvl="1" rtl="0">
              <a:spcBef>
                <a:spcPts val="0"/>
              </a:spcBef>
              <a:spcAft>
                <a:spcPts val="0"/>
              </a:spcAft>
              <a:buSzPts val="4400"/>
              <a:buNone/>
              <a:defRPr sz="5867" b="1"/>
            </a:lvl2pPr>
            <a:lvl3pPr lvl="2" rtl="0">
              <a:spcBef>
                <a:spcPts val="0"/>
              </a:spcBef>
              <a:spcAft>
                <a:spcPts val="0"/>
              </a:spcAft>
              <a:buSzPts val="4400"/>
              <a:buNone/>
              <a:defRPr sz="5867" b="1"/>
            </a:lvl3pPr>
            <a:lvl4pPr lvl="3" rtl="0">
              <a:spcBef>
                <a:spcPts val="0"/>
              </a:spcBef>
              <a:spcAft>
                <a:spcPts val="0"/>
              </a:spcAft>
              <a:buSzPts val="4400"/>
              <a:buNone/>
              <a:defRPr sz="5867" b="1"/>
            </a:lvl4pPr>
            <a:lvl5pPr lvl="4" rtl="0">
              <a:spcBef>
                <a:spcPts val="0"/>
              </a:spcBef>
              <a:spcAft>
                <a:spcPts val="0"/>
              </a:spcAft>
              <a:buSzPts val="4400"/>
              <a:buNone/>
              <a:defRPr sz="5867" b="1"/>
            </a:lvl5pPr>
            <a:lvl6pPr lvl="5" rtl="0">
              <a:spcBef>
                <a:spcPts val="0"/>
              </a:spcBef>
              <a:spcAft>
                <a:spcPts val="0"/>
              </a:spcAft>
              <a:buSzPts val="4400"/>
              <a:buNone/>
              <a:defRPr sz="5867" b="1"/>
            </a:lvl6pPr>
            <a:lvl7pPr lvl="6" rtl="0">
              <a:spcBef>
                <a:spcPts val="0"/>
              </a:spcBef>
              <a:spcAft>
                <a:spcPts val="0"/>
              </a:spcAft>
              <a:buSzPts val="4400"/>
              <a:buNone/>
              <a:defRPr sz="5867" b="1"/>
            </a:lvl7pPr>
            <a:lvl8pPr lvl="7" rtl="0">
              <a:spcBef>
                <a:spcPts val="0"/>
              </a:spcBef>
              <a:spcAft>
                <a:spcPts val="0"/>
              </a:spcAft>
              <a:buSzPts val="4400"/>
              <a:buNone/>
              <a:defRPr sz="5867" b="1"/>
            </a:lvl8pPr>
            <a:lvl9pPr lvl="8" rtl="0">
              <a:spcBef>
                <a:spcPts val="0"/>
              </a:spcBef>
              <a:spcAft>
                <a:spcPts val="0"/>
              </a:spcAft>
              <a:buSzPts val="4400"/>
              <a:buNone/>
              <a:defRPr sz="5867" b="1"/>
            </a:lvl9pPr>
          </a:lstStyle>
          <a:p>
            <a:r>
              <a:rPr lang="en-US"/>
              <a:t>Click to edit Master title style</a:t>
            </a:r>
            <a:endParaRPr/>
          </a:p>
        </p:txBody>
      </p:sp>
      <p:sp>
        <p:nvSpPr>
          <p:cNvPr id="28" name="Google Shape;28;p3"/>
          <p:cNvSpPr txBox="1">
            <a:spLocks noGrp="1"/>
          </p:cNvSpPr>
          <p:nvPr>
            <p:ph type="subTitle" idx="1"/>
          </p:nvPr>
        </p:nvSpPr>
        <p:spPr>
          <a:xfrm>
            <a:off x="2061367" y="4015348"/>
            <a:ext cx="7776800" cy="1046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3000"/>
              <a:buNone/>
              <a:defRPr>
                <a:solidFill>
                  <a:schemeClr val="accent3"/>
                </a:solidFill>
              </a:defRPr>
            </a:lvl1pPr>
            <a:lvl2pPr lvl="1" rtl="0">
              <a:spcBef>
                <a:spcPts val="0"/>
              </a:spcBef>
              <a:spcAft>
                <a:spcPts val="0"/>
              </a:spcAft>
              <a:buClr>
                <a:schemeClr val="accent3"/>
              </a:buClr>
              <a:buSzPts val="3000"/>
              <a:buNone/>
              <a:defRPr sz="4000">
                <a:solidFill>
                  <a:schemeClr val="accent3"/>
                </a:solidFill>
              </a:defRPr>
            </a:lvl2pPr>
            <a:lvl3pPr lvl="2" rtl="0">
              <a:spcBef>
                <a:spcPts val="0"/>
              </a:spcBef>
              <a:spcAft>
                <a:spcPts val="0"/>
              </a:spcAft>
              <a:buClr>
                <a:schemeClr val="accent3"/>
              </a:buClr>
              <a:buSzPts val="3000"/>
              <a:buNone/>
              <a:defRPr sz="4000">
                <a:solidFill>
                  <a:schemeClr val="accent3"/>
                </a:solidFill>
              </a:defRPr>
            </a:lvl3pPr>
            <a:lvl4pPr lvl="3" rtl="0">
              <a:spcBef>
                <a:spcPts val="0"/>
              </a:spcBef>
              <a:spcAft>
                <a:spcPts val="0"/>
              </a:spcAft>
              <a:buClr>
                <a:schemeClr val="accent3"/>
              </a:buClr>
              <a:buSzPts val="3000"/>
              <a:buNone/>
              <a:defRPr sz="4000">
                <a:solidFill>
                  <a:schemeClr val="accent3"/>
                </a:solidFill>
              </a:defRPr>
            </a:lvl4pPr>
            <a:lvl5pPr lvl="4" rtl="0">
              <a:spcBef>
                <a:spcPts val="0"/>
              </a:spcBef>
              <a:spcAft>
                <a:spcPts val="0"/>
              </a:spcAft>
              <a:buClr>
                <a:schemeClr val="accent3"/>
              </a:buClr>
              <a:buSzPts val="3000"/>
              <a:buNone/>
              <a:defRPr sz="4000">
                <a:solidFill>
                  <a:schemeClr val="accent3"/>
                </a:solidFill>
              </a:defRPr>
            </a:lvl5pPr>
            <a:lvl6pPr lvl="5" rtl="0">
              <a:spcBef>
                <a:spcPts val="0"/>
              </a:spcBef>
              <a:spcAft>
                <a:spcPts val="0"/>
              </a:spcAft>
              <a:buClr>
                <a:schemeClr val="accent3"/>
              </a:buClr>
              <a:buSzPts val="3000"/>
              <a:buNone/>
              <a:defRPr sz="4000">
                <a:solidFill>
                  <a:schemeClr val="accent3"/>
                </a:solidFill>
              </a:defRPr>
            </a:lvl6pPr>
            <a:lvl7pPr lvl="6" rtl="0">
              <a:spcBef>
                <a:spcPts val="0"/>
              </a:spcBef>
              <a:spcAft>
                <a:spcPts val="0"/>
              </a:spcAft>
              <a:buClr>
                <a:schemeClr val="accent3"/>
              </a:buClr>
              <a:buSzPts val="3000"/>
              <a:buNone/>
              <a:defRPr sz="4000">
                <a:solidFill>
                  <a:schemeClr val="accent3"/>
                </a:solidFill>
              </a:defRPr>
            </a:lvl7pPr>
            <a:lvl8pPr lvl="7" rtl="0">
              <a:spcBef>
                <a:spcPts val="0"/>
              </a:spcBef>
              <a:spcAft>
                <a:spcPts val="0"/>
              </a:spcAft>
              <a:buClr>
                <a:schemeClr val="accent3"/>
              </a:buClr>
              <a:buSzPts val="3000"/>
              <a:buNone/>
              <a:defRPr sz="4000">
                <a:solidFill>
                  <a:schemeClr val="accent3"/>
                </a:solidFill>
              </a:defRPr>
            </a:lvl8pPr>
            <a:lvl9pPr lvl="8" rtl="0">
              <a:spcBef>
                <a:spcPts val="0"/>
              </a:spcBef>
              <a:spcAft>
                <a:spcPts val="0"/>
              </a:spcAft>
              <a:buClr>
                <a:schemeClr val="accent3"/>
              </a:buClr>
              <a:buSzPts val="3000"/>
              <a:buNone/>
              <a:defRPr sz="4000">
                <a:solidFill>
                  <a:schemeClr val="accent3"/>
                </a:solidFill>
              </a:defRPr>
            </a:lvl9pPr>
          </a:lstStyle>
          <a:p>
            <a:r>
              <a:rPr lang="en-US"/>
              <a:t>Click to edit Master subtitle style</a:t>
            </a:r>
            <a:endParaRPr/>
          </a:p>
        </p:txBody>
      </p:sp>
    </p:spTree>
    <p:extLst>
      <p:ext uri="{BB962C8B-B14F-4D97-AF65-F5344CB8AC3E}">
        <p14:creationId xmlns:p14="http://schemas.microsoft.com/office/powerpoint/2010/main" val="231320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9"/>
        <p:cNvGrpSpPr/>
        <p:nvPr/>
      </p:nvGrpSpPr>
      <p:grpSpPr>
        <a:xfrm>
          <a:off x="0" y="0"/>
          <a:ext cx="0" cy="0"/>
          <a:chOff x="0" y="0"/>
          <a:chExt cx="0" cy="0"/>
        </a:xfrm>
      </p:grpSpPr>
      <p:pic>
        <p:nvPicPr>
          <p:cNvPr id="30" name="Google Shape;30;p4"/>
          <p:cNvPicPr preferRelativeResize="0"/>
          <p:nvPr/>
        </p:nvPicPr>
        <p:blipFill rotWithShape="1">
          <a:blip r:embed="rId2">
            <a:alphaModFix/>
          </a:blip>
          <a:srcRect l="19" r="19"/>
          <a:stretch/>
        </p:blipFill>
        <p:spPr>
          <a:xfrm rot="10800000" flipH="1">
            <a:off x="7936" y="0"/>
            <a:ext cx="12187469" cy="6858000"/>
          </a:xfrm>
          <a:prstGeom prst="rect">
            <a:avLst/>
          </a:prstGeom>
          <a:noFill/>
          <a:ln>
            <a:noFill/>
          </a:ln>
        </p:spPr>
      </p:pic>
      <p:sp>
        <p:nvSpPr>
          <p:cNvPr id="31" name="Google Shape;31;p4"/>
          <p:cNvSpPr txBox="1">
            <a:spLocks noGrp="1"/>
          </p:cNvSpPr>
          <p:nvPr>
            <p:ph type="body" idx="1"/>
          </p:nvPr>
        </p:nvSpPr>
        <p:spPr>
          <a:xfrm>
            <a:off x="1620400" y="2298200"/>
            <a:ext cx="8951200" cy="1093200"/>
          </a:xfrm>
          <a:prstGeom prst="rect">
            <a:avLst/>
          </a:prstGeom>
        </p:spPr>
        <p:txBody>
          <a:bodyPr spcFirstLastPara="1" wrap="square" lIns="91425" tIns="91425" rIns="91425" bIns="91425" anchor="t" anchorCtr="0">
            <a:noAutofit/>
          </a:bodyPr>
          <a:lstStyle>
            <a:lvl1pPr marL="609585" lvl="0" indent="-609585" algn="ctr" rtl="0">
              <a:spcBef>
                <a:spcPts val="800"/>
              </a:spcBef>
              <a:spcAft>
                <a:spcPts val="0"/>
              </a:spcAft>
              <a:buClr>
                <a:schemeClr val="dk1"/>
              </a:buClr>
              <a:buSzPts val="3600"/>
              <a:buChar char="◎"/>
              <a:defRPr sz="4800" i="1"/>
            </a:lvl1pPr>
            <a:lvl2pPr marL="1219170" lvl="1" indent="-609585" algn="ctr" rtl="0">
              <a:spcBef>
                <a:spcPts val="0"/>
              </a:spcBef>
              <a:spcAft>
                <a:spcPts val="0"/>
              </a:spcAft>
              <a:buClr>
                <a:schemeClr val="dk1"/>
              </a:buClr>
              <a:buSzPts val="3600"/>
              <a:buChar char="○"/>
              <a:defRPr sz="4800" i="1"/>
            </a:lvl2pPr>
            <a:lvl3pPr marL="1828754" lvl="2" indent="-609585" algn="ctr" rtl="0">
              <a:spcBef>
                <a:spcPts val="0"/>
              </a:spcBef>
              <a:spcAft>
                <a:spcPts val="0"/>
              </a:spcAft>
              <a:buClr>
                <a:schemeClr val="dk1"/>
              </a:buClr>
              <a:buSzPts val="3600"/>
              <a:buChar char="◉"/>
              <a:defRPr sz="4800" i="1"/>
            </a:lvl3pPr>
            <a:lvl4pPr marL="2438339" lvl="3" indent="-609585" algn="ctr" rtl="0">
              <a:spcBef>
                <a:spcPts val="0"/>
              </a:spcBef>
              <a:spcAft>
                <a:spcPts val="0"/>
              </a:spcAft>
              <a:buSzPts val="3600"/>
              <a:buChar char="●"/>
              <a:defRPr sz="4800" i="1"/>
            </a:lvl4pPr>
            <a:lvl5pPr marL="3047924" lvl="4" indent="-609585" algn="ctr" rtl="0">
              <a:spcBef>
                <a:spcPts val="0"/>
              </a:spcBef>
              <a:spcAft>
                <a:spcPts val="0"/>
              </a:spcAft>
              <a:buSzPts val="3600"/>
              <a:buChar char="○"/>
              <a:defRPr sz="4800" i="1"/>
            </a:lvl5pPr>
            <a:lvl6pPr marL="3657509" lvl="5" indent="-609585" algn="ctr" rtl="0">
              <a:spcBef>
                <a:spcPts val="0"/>
              </a:spcBef>
              <a:spcAft>
                <a:spcPts val="0"/>
              </a:spcAft>
              <a:buSzPts val="3600"/>
              <a:buChar char="■"/>
              <a:defRPr sz="4800" i="1"/>
            </a:lvl6pPr>
            <a:lvl7pPr marL="4267093" lvl="6" indent="-609585" algn="ctr" rtl="0">
              <a:spcBef>
                <a:spcPts val="0"/>
              </a:spcBef>
              <a:spcAft>
                <a:spcPts val="0"/>
              </a:spcAft>
              <a:buSzPts val="3600"/>
              <a:buChar char="●"/>
              <a:defRPr sz="4800" i="1"/>
            </a:lvl7pPr>
            <a:lvl8pPr marL="4876678" lvl="7" indent="-609585" algn="ctr" rtl="0">
              <a:spcBef>
                <a:spcPts val="0"/>
              </a:spcBef>
              <a:spcAft>
                <a:spcPts val="0"/>
              </a:spcAft>
              <a:buSzPts val="3600"/>
              <a:buChar char="○"/>
              <a:defRPr sz="4800" i="1"/>
            </a:lvl8pPr>
            <a:lvl9pPr marL="5486263" lvl="8" indent="-609585" algn="ctr">
              <a:spcBef>
                <a:spcPts val="0"/>
              </a:spcBef>
              <a:spcAft>
                <a:spcPts val="0"/>
              </a:spcAft>
              <a:buSzPts val="3600"/>
              <a:buChar char="■"/>
              <a:defRPr sz="4800" i="1"/>
            </a:lvl9pPr>
          </a:lstStyle>
          <a:p>
            <a:pPr lvl="0"/>
            <a:r>
              <a:rPr lang="en-US"/>
              <a:t>Click to edit Master text styles</a:t>
            </a:r>
          </a:p>
        </p:txBody>
      </p:sp>
      <p:grpSp>
        <p:nvGrpSpPr>
          <p:cNvPr id="32" name="Google Shape;32;p4"/>
          <p:cNvGrpSpPr/>
          <p:nvPr/>
        </p:nvGrpSpPr>
        <p:grpSpPr>
          <a:xfrm>
            <a:off x="5119529" y="1043892"/>
            <a:ext cx="1952764" cy="1123609"/>
            <a:chOff x="3593400" y="1729675"/>
            <a:chExt cx="1957200" cy="1123610"/>
          </a:xfrm>
        </p:grpSpPr>
        <p:sp>
          <p:nvSpPr>
            <p:cNvPr id="33" name="Google Shape;33;p4"/>
            <p:cNvSpPr txBox="1"/>
            <p:nvPr/>
          </p:nvSpPr>
          <p:spPr>
            <a:xfrm>
              <a:off x="3593400" y="1729675"/>
              <a:ext cx="1957200" cy="87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0" b="1">
                  <a:solidFill>
                    <a:schemeClr val="accent1"/>
                  </a:solidFill>
                  <a:latin typeface="Source Sans Pro"/>
                  <a:ea typeface="Source Sans Pro"/>
                  <a:cs typeface="Source Sans Pro"/>
                  <a:sym typeface="Source Sans Pro"/>
                </a:rPr>
                <a:t>“</a:t>
              </a:r>
              <a:endParaRPr sz="8000" b="1">
                <a:solidFill>
                  <a:schemeClr val="accent1"/>
                </a:solidFill>
                <a:latin typeface="Source Sans Pro"/>
                <a:ea typeface="Source Sans Pro"/>
                <a:cs typeface="Source Sans Pro"/>
                <a:sym typeface="Source Sans Pro"/>
              </a:endParaRPr>
            </a:p>
          </p:txBody>
        </p:sp>
        <p:sp>
          <p:nvSpPr>
            <p:cNvPr id="34" name="Google Shape;34;p4"/>
            <p:cNvSpPr/>
            <p:nvPr/>
          </p:nvSpPr>
          <p:spPr>
            <a:xfrm>
              <a:off x="4025400" y="1760085"/>
              <a:ext cx="1093200" cy="10932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 name="Google Shape;35;p4"/>
            <p:cNvSpPr/>
            <p:nvPr/>
          </p:nvSpPr>
          <p:spPr>
            <a:xfrm>
              <a:off x="4190700" y="1925385"/>
              <a:ext cx="762600" cy="7626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36" name="Google Shape;36;p4"/>
          <p:cNvCxnSpPr>
            <a:endCxn id="34" idx="1"/>
          </p:cNvCxnSpPr>
          <p:nvPr/>
        </p:nvCxnSpPr>
        <p:spPr>
          <a:xfrm>
            <a:off x="5000681" y="520396"/>
            <a:ext cx="709600" cy="714000"/>
          </a:xfrm>
          <a:prstGeom prst="straightConnector1">
            <a:avLst/>
          </a:prstGeom>
          <a:noFill/>
          <a:ln w="9525" cap="flat" cmpd="sng">
            <a:solidFill>
              <a:srgbClr val="CFD8DC"/>
            </a:solidFill>
            <a:prstDash val="solid"/>
            <a:round/>
            <a:headEnd type="none" w="med" len="med"/>
            <a:tailEnd type="none" w="med" len="med"/>
          </a:ln>
        </p:spPr>
      </p:cxnSp>
      <p:cxnSp>
        <p:nvCxnSpPr>
          <p:cNvPr id="37" name="Google Shape;37;p4"/>
          <p:cNvCxnSpPr/>
          <p:nvPr/>
        </p:nvCxnSpPr>
        <p:spPr>
          <a:xfrm rot="10800000">
            <a:off x="5817203" y="581500"/>
            <a:ext cx="278800" cy="492800"/>
          </a:xfrm>
          <a:prstGeom prst="straightConnector1">
            <a:avLst/>
          </a:prstGeom>
          <a:noFill/>
          <a:ln w="9525" cap="flat" cmpd="sng">
            <a:solidFill>
              <a:srgbClr val="CFD8DC"/>
            </a:solidFill>
            <a:prstDash val="solid"/>
            <a:round/>
            <a:headEnd type="none" w="med" len="med"/>
            <a:tailEnd type="none" w="med" len="med"/>
          </a:ln>
        </p:spPr>
      </p:cxnSp>
      <p:cxnSp>
        <p:nvCxnSpPr>
          <p:cNvPr id="38" name="Google Shape;38;p4"/>
          <p:cNvCxnSpPr/>
          <p:nvPr/>
        </p:nvCxnSpPr>
        <p:spPr>
          <a:xfrm rot="10800000" flipH="1">
            <a:off x="6272680" y="469240"/>
            <a:ext cx="462800" cy="632800"/>
          </a:xfrm>
          <a:prstGeom prst="straightConnector1">
            <a:avLst/>
          </a:prstGeom>
          <a:noFill/>
          <a:ln w="9525" cap="flat" cmpd="sng">
            <a:solidFill>
              <a:srgbClr val="CFD8DC"/>
            </a:solidFill>
            <a:prstDash val="solid"/>
            <a:round/>
            <a:headEnd type="none" w="med" len="med"/>
            <a:tailEnd type="none" w="med" len="med"/>
          </a:ln>
        </p:spPr>
      </p:cxnSp>
      <p:sp>
        <p:nvSpPr>
          <p:cNvPr id="39" name="Google Shape;39;p4"/>
          <p:cNvSpPr txBox="1">
            <a:spLocks noGrp="1"/>
          </p:cNvSpPr>
          <p:nvPr>
            <p:ph type="sldNum" idx="12"/>
          </p:nvPr>
        </p:nvSpPr>
        <p:spPr>
          <a:xfrm>
            <a:off x="-116" y="6333125"/>
            <a:ext cx="12192000" cy="5248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9605B80E-331C-48DC-9F55-36877A91BC15}" type="slidenum">
              <a:rPr lang="en-IN" smtClean="0"/>
              <a:t>‹#›</a:t>
            </a:fld>
            <a:endParaRPr lang="en-IN"/>
          </a:p>
        </p:txBody>
      </p:sp>
    </p:spTree>
    <p:extLst>
      <p:ext uri="{BB962C8B-B14F-4D97-AF65-F5344CB8AC3E}">
        <p14:creationId xmlns:p14="http://schemas.microsoft.com/office/powerpoint/2010/main" val="536086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7"/>
            <a:ext cx="10095600" cy="936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r>
              <a:rPr lang="en-US"/>
              <a:t>Click to edit Master title style</a:t>
            </a:r>
            <a:endParaRPr/>
          </a:p>
        </p:txBody>
      </p:sp>
      <p:sp>
        <p:nvSpPr>
          <p:cNvPr id="42" name="Google Shape;42;p5"/>
          <p:cNvSpPr txBox="1">
            <a:spLocks noGrp="1"/>
          </p:cNvSpPr>
          <p:nvPr>
            <p:ph type="body" idx="1"/>
          </p:nvPr>
        </p:nvSpPr>
        <p:spPr>
          <a:xfrm>
            <a:off x="1048200" y="1682267"/>
            <a:ext cx="10095600" cy="4764800"/>
          </a:xfrm>
          <a:prstGeom prst="rect">
            <a:avLst/>
          </a:prstGeom>
        </p:spPr>
        <p:txBody>
          <a:bodyPr spcFirstLastPara="1" wrap="square" lIns="91425" tIns="91425" rIns="91425" bIns="91425" anchor="t" anchorCtr="0">
            <a:noAutofit/>
          </a:bodyPr>
          <a:lstStyle>
            <a:lvl1pPr marL="609585" lvl="0" indent="-507987">
              <a:spcBef>
                <a:spcPts val="800"/>
              </a:spcBef>
              <a:spcAft>
                <a:spcPts val="0"/>
              </a:spcAft>
              <a:buSzPts val="2400"/>
              <a:buChar char="◎"/>
              <a:defRPr sz="3200"/>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507987">
              <a:spcBef>
                <a:spcPts val="0"/>
              </a:spcBef>
              <a:spcAft>
                <a:spcPts val="0"/>
              </a:spcAft>
              <a:buSzPts val="2400"/>
              <a:buChar char="●"/>
              <a:defRPr sz="3200"/>
            </a:lvl4pPr>
            <a:lvl5pPr marL="3047924" lvl="4" indent="-507987">
              <a:spcBef>
                <a:spcPts val="0"/>
              </a:spcBef>
              <a:spcAft>
                <a:spcPts val="0"/>
              </a:spcAft>
              <a:buSzPts val="2400"/>
              <a:buChar char="○"/>
              <a:defRPr sz="3200"/>
            </a:lvl5pPr>
            <a:lvl6pPr marL="3657509" lvl="5" indent="-507987">
              <a:spcBef>
                <a:spcPts val="0"/>
              </a:spcBef>
              <a:spcAft>
                <a:spcPts val="0"/>
              </a:spcAft>
              <a:buSzPts val="2400"/>
              <a:buChar char="■"/>
              <a:defRPr sz="3200"/>
            </a:lvl6pPr>
            <a:lvl7pPr marL="4267093" lvl="6" indent="-507987">
              <a:spcBef>
                <a:spcPts val="0"/>
              </a:spcBef>
              <a:spcAft>
                <a:spcPts val="0"/>
              </a:spcAft>
              <a:buSzPts val="2400"/>
              <a:buChar char="●"/>
              <a:defRPr sz="3200"/>
            </a:lvl7pPr>
            <a:lvl8pPr marL="4876678" lvl="7" indent="-507987">
              <a:spcBef>
                <a:spcPts val="0"/>
              </a:spcBef>
              <a:spcAft>
                <a:spcPts val="0"/>
              </a:spcAft>
              <a:buSzPts val="2400"/>
              <a:buChar char="○"/>
              <a:defRPr sz="3200"/>
            </a:lvl8pPr>
            <a:lvl9pPr marL="5486263" lvl="8" indent="-507987">
              <a:spcBef>
                <a:spcPts val="0"/>
              </a:spcBef>
              <a:spcAft>
                <a:spcPts val="0"/>
              </a:spcAft>
              <a:buSzPts val="2400"/>
              <a:buChar char="■"/>
              <a:defRPr sz="3200"/>
            </a:lvl9pPr>
          </a:lstStyle>
          <a:p>
            <a:pPr lvl="0"/>
            <a:r>
              <a:rPr lang="en-US"/>
              <a:t>Click to edit Master text styles</a:t>
            </a:r>
          </a:p>
        </p:txBody>
      </p:sp>
      <p:sp>
        <p:nvSpPr>
          <p:cNvPr id="43" name="Google Shape;43;p5"/>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605B80E-331C-48DC-9F55-36877A91BC15}" type="slidenum">
              <a:rPr lang="en-IN" smtClean="0"/>
              <a:t>‹#›</a:t>
            </a:fld>
            <a:endParaRPr lang="en-IN"/>
          </a:p>
        </p:txBody>
      </p:sp>
    </p:spTree>
    <p:extLst>
      <p:ext uri="{BB962C8B-B14F-4D97-AF65-F5344CB8AC3E}">
        <p14:creationId xmlns:p14="http://schemas.microsoft.com/office/powerpoint/2010/main" val="58704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1048200" y="410827"/>
            <a:ext cx="10095600" cy="936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r>
              <a:rPr lang="en-US"/>
              <a:t>Click to edit Master title style</a:t>
            </a:r>
            <a:endParaRPr/>
          </a:p>
        </p:txBody>
      </p:sp>
      <p:sp>
        <p:nvSpPr>
          <p:cNvPr id="46" name="Google Shape;46;p6"/>
          <p:cNvSpPr txBox="1">
            <a:spLocks noGrp="1"/>
          </p:cNvSpPr>
          <p:nvPr>
            <p:ph type="body" idx="1"/>
          </p:nvPr>
        </p:nvSpPr>
        <p:spPr>
          <a:xfrm>
            <a:off x="1048183" y="1600200"/>
            <a:ext cx="4900400" cy="49676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0"/>
              </a:spcBef>
              <a:spcAft>
                <a:spcPts val="0"/>
              </a:spcAft>
              <a:buSzPts val="2000"/>
              <a:buChar char="○"/>
              <a:defRPr sz="2667"/>
            </a:lvl2pPr>
            <a:lvl3pPr marL="1828754" lvl="2" indent="-474121">
              <a:spcBef>
                <a:spcPts val="0"/>
              </a:spcBef>
              <a:spcAft>
                <a:spcPts val="0"/>
              </a:spcAft>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pPr lvl="0"/>
            <a:r>
              <a:rPr lang="en-US"/>
              <a:t>Click to edit Master text styles</a:t>
            </a:r>
          </a:p>
        </p:txBody>
      </p:sp>
      <p:sp>
        <p:nvSpPr>
          <p:cNvPr id="47" name="Google Shape;47;p6"/>
          <p:cNvSpPr txBox="1">
            <a:spLocks noGrp="1"/>
          </p:cNvSpPr>
          <p:nvPr>
            <p:ph type="body" idx="2"/>
          </p:nvPr>
        </p:nvSpPr>
        <p:spPr>
          <a:xfrm>
            <a:off x="6243545" y="1600200"/>
            <a:ext cx="4900400" cy="49676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0"/>
              </a:spcBef>
              <a:spcAft>
                <a:spcPts val="0"/>
              </a:spcAft>
              <a:buSzPts val="2000"/>
              <a:buChar char="○"/>
              <a:defRPr sz="2667"/>
            </a:lvl2pPr>
            <a:lvl3pPr marL="1828754" lvl="2" indent="-474121">
              <a:spcBef>
                <a:spcPts val="0"/>
              </a:spcBef>
              <a:spcAft>
                <a:spcPts val="0"/>
              </a:spcAft>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pPr lvl="0"/>
            <a:r>
              <a:rPr lang="en-US"/>
              <a:t>Click to edit Master text styles</a:t>
            </a:r>
          </a:p>
        </p:txBody>
      </p:sp>
      <p:sp>
        <p:nvSpPr>
          <p:cNvPr id="48" name="Google Shape;48;p6"/>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605B80E-331C-48DC-9F55-36877A91BC15}" type="slidenum">
              <a:rPr lang="en-IN" smtClean="0"/>
              <a:t>‹#›</a:t>
            </a:fld>
            <a:endParaRPr lang="en-IN"/>
          </a:p>
        </p:txBody>
      </p:sp>
    </p:spTree>
    <p:extLst>
      <p:ext uri="{BB962C8B-B14F-4D97-AF65-F5344CB8AC3E}">
        <p14:creationId xmlns:p14="http://schemas.microsoft.com/office/powerpoint/2010/main" val="229016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1048200" y="410827"/>
            <a:ext cx="10095600" cy="936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r>
              <a:rPr lang="en-US"/>
              <a:t>Click to edit Master title style</a:t>
            </a:r>
            <a:endParaRPr/>
          </a:p>
        </p:txBody>
      </p:sp>
      <p:sp>
        <p:nvSpPr>
          <p:cNvPr id="51" name="Google Shape;51;p7"/>
          <p:cNvSpPr txBox="1">
            <a:spLocks noGrp="1"/>
          </p:cNvSpPr>
          <p:nvPr>
            <p:ph type="body" idx="1"/>
          </p:nvPr>
        </p:nvSpPr>
        <p:spPr>
          <a:xfrm>
            <a:off x="1048200" y="1600200"/>
            <a:ext cx="3226400" cy="4967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sz="2400"/>
            </a:lvl1pPr>
            <a:lvl2pPr marL="1219170" lvl="1" indent="-457189" rtl="0">
              <a:spcBef>
                <a:spcPts val="0"/>
              </a:spcBef>
              <a:spcAft>
                <a:spcPts val="0"/>
              </a:spcAft>
              <a:buSzPts val="1800"/>
              <a:buChar char="○"/>
              <a:defRPr sz="2400"/>
            </a:lvl2pPr>
            <a:lvl3pPr marL="1828754" lvl="2" indent="-457189" rtl="0">
              <a:spcBef>
                <a:spcPts val="0"/>
              </a:spcBef>
              <a:spcAft>
                <a:spcPts val="0"/>
              </a:spcAft>
              <a:buSzPts val="1800"/>
              <a:buChar char="◉"/>
              <a:defRPr sz="2400"/>
            </a:lvl3pPr>
            <a:lvl4pPr marL="2438339" lvl="3" indent="-457189" rtl="0">
              <a:spcBef>
                <a:spcPts val="0"/>
              </a:spcBef>
              <a:spcAft>
                <a:spcPts val="0"/>
              </a:spcAft>
              <a:buSzPts val="1800"/>
              <a:buChar char="●"/>
              <a:defRPr/>
            </a:lvl4pPr>
            <a:lvl5pPr marL="3047924" lvl="4" indent="-457189" rtl="0">
              <a:spcBef>
                <a:spcPts val="0"/>
              </a:spcBef>
              <a:spcAft>
                <a:spcPts val="0"/>
              </a:spcAft>
              <a:buSzPts val="1800"/>
              <a:buChar char="○"/>
              <a:defRPr/>
            </a:lvl5pPr>
            <a:lvl6pPr marL="3657509" lvl="5" indent="-457189" rtl="0">
              <a:spcBef>
                <a:spcPts val="0"/>
              </a:spcBef>
              <a:spcAft>
                <a:spcPts val="0"/>
              </a:spcAft>
              <a:buSzPts val="1800"/>
              <a:buChar char="■"/>
              <a:defRPr/>
            </a:lvl6pPr>
            <a:lvl7pPr marL="4267093" lvl="6" indent="-457189" rtl="0">
              <a:spcBef>
                <a:spcPts val="0"/>
              </a:spcBef>
              <a:spcAft>
                <a:spcPts val="0"/>
              </a:spcAft>
              <a:buSzPts val="1800"/>
              <a:buChar char="●"/>
              <a:defRPr/>
            </a:lvl7pPr>
            <a:lvl8pPr marL="4876678" lvl="7" indent="-457189" rtl="0">
              <a:spcBef>
                <a:spcPts val="0"/>
              </a:spcBef>
              <a:spcAft>
                <a:spcPts val="0"/>
              </a:spcAft>
              <a:buSzPts val="1800"/>
              <a:buChar char="○"/>
              <a:defRPr/>
            </a:lvl8pPr>
            <a:lvl9pPr marL="5486263" lvl="8" indent="-457189" rtl="0">
              <a:spcBef>
                <a:spcPts val="0"/>
              </a:spcBef>
              <a:spcAft>
                <a:spcPts val="0"/>
              </a:spcAft>
              <a:buSzPts val="1800"/>
              <a:buChar char="■"/>
              <a:defRPr/>
            </a:lvl9pPr>
          </a:lstStyle>
          <a:p>
            <a:pPr lvl="0"/>
            <a:r>
              <a:rPr lang="en-US"/>
              <a:t>Click to edit Master text styles</a:t>
            </a:r>
          </a:p>
        </p:txBody>
      </p:sp>
      <p:sp>
        <p:nvSpPr>
          <p:cNvPr id="52" name="Google Shape;52;p7"/>
          <p:cNvSpPr txBox="1">
            <a:spLocks noGrp="1"/>
          </p:cNvSpPr>
          <p:nvPr>
            <p:ph type="body" idx="2"/>
          </p:nvPr>
        </p:nvSpPr>
        <p:spPr>
          <a:xfrm>
            <a:off x="4439989" y="1600200"/>
            <a:ext cx="3226400" cy="4967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sz="2400"/>
            </a:lvl1pPr>
            <a:lvl2pPr marL="1219170" lvl="1" indent="-457189" rtl="0">
              <a:spcBef>
                <a:spcPts val="0"/>
              </a:spcBef>
              <a:spcAft>
                <a:spcPts val="0"/>
              </a:spcAft>
              <a:buSzPts val="1800"/>
              <a:buChar char="○"/>
              <a:defRPr sz="2400"/>
            </a:lvl2pPr>
            <a:lvl3pPr marL="1828754" lvl="2" indent="-457189" rtl="0">
              <a:spcBef>
                <a:spcPts val="0"/>
              </a:spcBef>
              <a:spcAft>
                <a:spcPts val="0"/>
              </a:spcAft>
              <a:buSzPts val="1800"/>
              <a:buChar char="◉"/>
              <a:defRPr sz="2400"/>
            </a:lvl3pPr>
            <a:lvl4pPr marL="2438339" lvl="3" indent="-457189" rtl="0">
              <a:spcBef>
                <a:spcPts val="0"/>
              </a:spcBef>
              <a:spcAft>
                <a:spcPts val="0"/>
              </a:spcAft>
              <a:buSzPts val="1800"/>
              <a:buChar char="●"/>
              <a:defRPr/>
            </a:lvl4pPr>
            <a:lvl5pPr marL="3047924" lvl="4" indent="-457189" rtl="0">
              <a:spcBef>
                <a:spcPts val="0"/>
              </a:spcBef>
              <a:spcAft>
                <a:spcPts val="0"/>
              </a:spcAft>
              <a:buSzPts val="1800"/>
              <a:buChar char="○"/>
              <a:defRPr/>
            </a:lvl5pPr>
            <a:lvl6pPr marL="3657509" lvl="5" indent="-457189" rtl="0">
              <a:spcBef>
                <a:spcPts val="0"/>
              </a:spcBef>
              <a:spcAft>
                <a:spcPts val="0"/>
              </a:spcAft>
              <a:buSzPts val="1800"/>
              <a:buChar char="■"/>
              <a:defRPr/>
            </a:lvl6pPr>
            <a:lvl7pPr marL="4267093" lvl="6" indent="-457189" rtl="0">
              <a:spcBef>
                <a:spcPts val="0"/>
              </a:spcBef>
              <a:spcAft>
                <a:spcPts val="0"/>
              </a:spcAft>
              <a:buSzPts val="1800"/>
              <a:buChar char="●"/>
              <a:defRPr/>
            </a:lvl7pPr>
            <a:lvl8pPr marL="4876678" lvl="7" indent="-457189" rtl="0">
              <a:spcBef>
                <a:spcPts val="0"/>
              </a:spcBef>
              <a:spcAft>
                <a:spcPts val="0"/>
              </a:spcAft>
              <a:buSzPts val="1800"/>
              <a:buChar char="○"/>
              <a:defRPr/>
            </a:lvl8pPr>
            <a:lvl9pPr marL="5486263" lvl="8" indent="-457189" rtl="0">
              <a:spcBef>
                <a:spcPts val="0"/>
              </a:spcBef>
              <a:spcAft>
                <a:spcPts val="0"/>
              </a:spcAft>
              <a:buSzPts val="1800"/>
              <a:buChar char="■"/>
              <a:defRPr/>
            </a:lvl9pPr>
          </a:lstStyle>
          <a:p>
            <a:pPr lvl="0"/>
            <a:r>
              <a:rPr lang="en-US"/>
              <a:t>Click to edit Master text styles</a:t>
            </a:r>
          </a:p>
        </p:txBody>
      </p:sp>
      <p:sp>
        <p:nvSpPr>
          <p:cNvPr id="53" name="Google Shape;53;p7"/>
          <p:cNvSpPr txBox="1">
            <a:spLocks noGrp="1"/>
          </p:cNvSpPr>
          <p:nvPr>
            <p:ph type="body" idx="3"/>
          </p:nvPr>
        </p:nvSpPr>
        <p:spPr>
          <a:xfrm>
            <a:off x="7831779" y="1600200"/>
            <a:ext cx="3226400" cy="4967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sz="2400"/>
            </a:lvl1pPr>
            <a:lvl2pPr marL="1219170" lvl="1" indent="-457189" rtl="0">
              <a:spcBef>
                <a:spcPts val="0"/>
              </a:spcBef>
              <a:spcAft>
                <a:spcPts val="0"/>
              </a:spcAft>
              <a:buSzPts val="1800"/>
              <a:buChar char="○"/>
              <a:defRPr sz="2400"/>
            </a:lvl2pPr>
            <a:lvl3pPr marL="1828754" lvl="2" indent="-457189" rtl="0">
              <a:spcBef>
                <a:spcPts val="0"/>
              </a:spcBef>
              <a:spcAft>
                <a:spcPts val="0"/>
              </a:spcAft>
              <a:buSzPts val="1800"/>
              <a:buChar char="◉"/>
              <a:defRPr sz="2400"/>
            </a:lvl3pPr>
            <a:lvl4pPr marL="2438339" lvl="3" indent="-457189" rtl="0">
              <a:spcBef>
                <a:spcPts val="0"/>
              </a:spcBef>
              <a:spcAft>
                <a:spcPts val="0"/>
              </a:spcAft>
              <a:buSzPts val="1800"/>
              <a:buChar char="●"/>
              <a:defRPr/>
            </a:lvl4pPr>
            <a:lvl5pPr marL="3047924" lvl="4" indent="-457189" rtl="0">
              <a:spcBef>
                <a:spcPts val="0"/>
              </a:spcBef>
              <a:spcAft>
                <a:spcPts val="0"/>
              </a:spcAft>
              <a:buSzPts val="1800"/>
              <a:buChar char="○"/>
              <a:defRPr/>
            </a:lvl5pPr>
            <a:lvl6pPr marL="3657509" lvl="5" indent="-457189" rtl="0">
              <a:spcBef>
                <a:spcPts val="0"/>
              </a:spcBef>
              <a:spcAft>
                <a:spcPts val="0"/>
              </a:spcAft>
              <a:buSzPts val="1800"/>
              <a:buChar char="■"/>
              <a:defRPr/>
            </a:lvl6pPr>
            <a:lvl7pPr marL="4267093" lvl="6" indent="-457189" rtl="0">
              <a:spcBef>
                <a:spcPts val="0"/>
              </a:spcBef>
              <a:spcAft>
                <a:spcPts val="0"/>
              </a:spcAft>
              <a:buSzPts val="1800"/>
              <a:buChar char="●"/>
              <a:defRPr/>
            </a:lvl7pPr>
            <a:lvl8pPr marL="4876678" lvl="7" indent="-457189" rtl="0">
              <a:spcBef>
                <a:spcPts val="0"/>
              </a:spcBef>
              <a:spcAft>
                <a:spcPts val="0"/>
              </a:spcAft>
              <a:buSzPts val="1800"/>
              <a:buChar char="○"/>
              <a:defRPr/>
            </a:lvl8pPr>
            <a:lvl9pPr marL="5486263" lvl="8" indent="-457189" rtl="0">
              <a:spcBef>
                <a:spcPts val="0"/>
              </a:spcBef>
              <a:spcAft>
                <a:spcPts val="0"/>
              </a:spcAft>
              <a:buSzPts val="1800"/>
              <a:buChar char="■"/>
              <a:defRPr/>
            </a:lvl9pPr>
          </a:lstStyle>
          <a:p>
            <a:pPr lvl="0"/>
            <a:r>
              <a:rPr lang="en-US"/>
              <a:t>Click to edit Master text styles</a:t>
            </a:r>
          </a:p>
        </p:txBody>
      </p:sp>
      <p:sp>
        <p:nvSpPr>
          <p:cNvPr id="54" name="Google Shape;54;p7"/>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605B80E-331C-48DC-9F55-36877A91BC15}" type="slidenum">
              <a:rPr lang="en-IN" smtClean="0"/>
              <a:t>‹#›</a:t>
            </a:fld>
            <a:endParaRPr lang="en-IN"/>
          </a:p>
        </p:txBody>
      </p:sp>
    </p:spTree>
    <p:extLst>
      <p:ext uri="{BB962C8B-B14F-4D97-AF65-F5344CB8AC3E}">
        <p14:creationId xmlns:p14="http://schemas.microsoft.com/office/powerpoint/2010/main" val="3591043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1048200" y="410827"/>
            <a:ext cx="10095600" cy="936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r>
              <a:rPr lang="en-US"/>
              <a:t>Click to edit Master title style</a:t>
            </a:r>
            <a:endParaRPr/>
          </a:p>
        </p:txBody>
      </p:sp>
      <p:sp>
        <p:nvSpPr>
          <p:cNvPr id="57" name="Google Shape;57;p8"/>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605B80E-331C-48DC-9F55-36877A91BC15}" type="slidenum">
              <a:rPr lang="en-IN" smtClean="0"/>
              <a:t>‹#›</a:t>
            </a:fld>
            <a:endParaRPr lang="en-IN"/>
          </a:p>
        </p:txBody>
      </p:sp>
    </p:spTree>
    <p:extLst>
      <p:ext uri="{BB962C8B-B14F-4D97-AF65-F5344CB8AC3E}">
        <p14:creationId xmlns:p14="http://schemas.microsoft.com/office/powerpoint/2010/main" val="72477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58"/>
        <p:cNvGrpSpPr/>
        <p:nvPr/>
      </p:nvGrpSpPr>
      <p:grpSpPr>
        <a:xfrm>
          <a:off x="0" y="0"/>
          <a:ext cx="0" cy="0"/>
          <a:chOff x="0" y="0"/>
          <a:chExt cx="0" cy="0"/>
        </a:xfrm>
      </p:grpSpPr>
      <p:sp>
        <p:nvSpPr>
          <p:cNvPr id="59" name="Google Shape;59;p9"/>
          <p:cNvSpPr txBox="1">
            <a:spLocks noGrp="1"/>
          </p:cNvSpPr>
          <p:nvPr>
            <p:ph type="body" idx="1"/>
          </p:nvPr>
        </p:nvSpPr>
        <p:spPr>
          <a:xfrm>
            <a:off x="609600" y="5407124"/>
            <a:ext cx="10972800" cy="491600"/>
          </a:xfrm>
          <a:prstGeom prst="rect">
            <a:avLst/>
          </a:prstGeom>
        </p:spPr>
        <p:txBody>
          <a:bodyPr spcFirstLastPara="1" wrap="square" lIns="91425" tIns="91425" rIns="91425" bIns="91425" anchor="t" anchorCtr="0">
            <a:noAutofit/>
          </a:bodyPr>
          <a:lstStyle>
            <a:lvl1pPr marL="609585" lvl="0" indent="-304792" algn="ctr">
              <a:spcBef>
                <a:spcPts val="480"/>
              </a:spcBef>
              <a:spcAft>
                <a:spcPts val="0"/>
              </a:spcAft>
              <a:buSzPts val="1800"/>
              <a:buNone/>
              <a:defRPr sz="2400"/>
            </a:lvl1pPr>
          </a:lstStyle>
          <a:p>
            <a:pPr lvl="0"/>
            <a:r>
              <a:rPr lang="en-US"/>
              <a:t>Click to edit Master text styles</a:t>
            </a:r>
          </a:p>
        </p:txBody>
      </p:sp>
      <p:sp>
        <p:nvSpPr>
          <p:cNvPr id="60" name="Google Shape;60;p9"/>
          <p:cNvSpPr txBox="1">
            <a:spLocks noGrp="1"/>
          </p:cNvSpPr>
          <p:nvPr>
            <p:ph type="sldNum" idx="12"/>
          </p:nvPr>
        </p:nvSpPr>
        <p:spPr>
          <a:xfrm>
            <a:off x="-123" y="6333125"/>
            <a:ext cx="12192000" cy="5248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9605B80E-331C-48DC-9F55-36877A91BC15}" type="slidenum">
              <a:rPr lang="en-IN" smtClean="0"/>
              <a:t>‹#›</a:t>
            </a:fld>
            <a:endParaRPr lang="en-IN"/>
          </a:p>
        </p:txBody>
      </p:sp>
    </p:spTree>
    <p:extLst>
      <p:ext uri="{BB962C8B-B14F-4D97-AF65-F5344CB8AC3E}">
        <p14:creationId xmlns:p14="http://schemas.microsoft.com/office/powerpoint/2010/main" val="2315264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0"/>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605B80E-331C-48DC-9F55-36877A91BC15}" type="slidenum">
              <a:rPr lang="en-IN" smtClean="0"/>
              <a:t>‹#›</a:t>
            </a:fld>
            <a:endParaRPr lang="en-IN"/>
          </a:p>
        </p:txBody>
      </p:sp>
    </p:spTree>
    <p:extLst>
      <p:ext uri="{BB962C8B-B14F-4D97-AF65-F5344CB8AC3E}">
        <p14:creationId xmlns:p14="http://schemas.microsoft.com/office/powerpoint/2010/main" val="882204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complete pattern">
  <p:cSld name="Blank complete pattern">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11"/>
          <p:cNvSpPr/>
          <p:nvPr/>
        </p:nvSpPr>
        <p:spPr>
          <a:xfrm>
            <a:off x="-35400" y="-19800"/>
            <a:ext cx="12262800" cy="6897600"/>
          </a:xfrm>
          <a:prstGeom prst="rect">
            <a:avLst/>
          </a:prstGeom>
          <a:solidFill>
            <a:srgbClr val="CFD8DC">
              <a:alpha val="4923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5" name="Google Shape;65;p11"/>
          <p:cNvSpPr txBox="1">
            <a:spLocks noGrp="1"/>
          </p:cNvSpPr>
          <p:nvPr>
            <p:ph type="sldNum" idx="12"/>
          </p:nvPr>
        </p:nvSpPr>
        <p:spPr>
          <a:xfrm>
            <a:off x="11205845"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605B80E-331C-48DC-9F55-36877A91BC15}" type="slidenum">
              <a:rPr lang="en-IN" smtClean="0"/>
              <a:t>‹#›</a:t>
            </a:fld>
            <a:endParaRPr lang="en-IN"/>
          </a:p>
        </p:txBody>
      </p:sp>
    </p:spTree>
    <p:extLst>
      <p:ext uri="{BB962C8B-B14F-4D97-AF65-F5344CB8AC3E}">
        <p14:creationId xmlns:p14="http://schemas.microsoft.com/office/powerpoint/2010/main" val="3303672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82A40F-C780-4DDB-86D0-FBFB02120BF8}"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05B80E-331C-48DC-9F55-36877A91BC15}" type="slidenum">
              <a:rPr lang="en-IN" smtClean="0"/>
              <a:t>‹#›</a:t>
            </a:fld>
            <a:endParaRPr lang="en-IN"/>
          </a:p>
        </p:txBody>
      </p:sp>
    </p:spTree>
    <p:extLst>
      <p:ext uri="{BB962C8B-B14F-4D97-AF65-F5344CB8AC3E}">
        <p14:creationId xmlns:p14="http://schemas.microsoft.com/office/powerpoint/2010/main" val="3115304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48200" y="410827"/>
            <a:ext cx="10095600" cy="9368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1pPr>
            <a:lvl2pPr lvl="1">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2pPr>
            <a:lvl3pPr lvl="2">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3pPr>
            <a:lvl4pPr lvl="3">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4pPr>
            <a:lvl5pPr lvl="4">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5pPr>
            <a:lvl6pPr lvl="5">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6pPr>
            <a:lvl7pPr lvl="6">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7pPr>
            <a:lvl8pPr lvl="7">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8pPr>
            <a:lvl9pPr lvl="8">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1048200" y="1682267"/>
            <a:ext cx="10095600" cy="47648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4"/>
              </a:buClr>
              <a:buSzPts val="3000"/>
              <a:buFont typeface="Source Sans Pro"/>
              <a:buChar char="◎"/>
              <a:defRPr sz="3000">
                <a:solidFill>
                  <a:schemeClr val="dk1"/>
                </a:solidFill>
                <a:latin typeface="Source Sans Pro"/>
                <a:ea typeface="Source Sans Pro"/>
                <a:cs typeface="Source Sans Pro"/>
                <a:sym typeface="Source Sans Pro"/>
              </a:defRPr>
            </a:lvl1pPr>
            <a:lvl2pPr marL="914400" lvl="1"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2pPr>
            <a:lvl3pPr marL="1371600" lvl="2"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3pPr>
            <a:lvl4pPr marL="1828800" lvl="3"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marL="2286000" lvl="4"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marL="2743200" lvl="5"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marL="3200400" lvl="6"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marL="3657600" lvl="7"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marL="4114800" lvl="8"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11205845" y="6333135"/>
            <a:ext cx="731600" cy="524800"/>
          </a:xfrm>
          <a:prstGeom prst="rect">
            <a:avLst/>
          </a:prstGeom>
          <a:noFill/>
          <a:ln>
            <a:noFill/>
          </a:ln>
        </p:spPr>
        <p:txBody>
          <a:bodyPr spcFirstLastPara="1" wrap="square" lIns="91425" tIns="91425" rIns="91425" bIns="91425" anchor="t" anchorCtr="0">
            <a:noAutofit/>
          </a:bodyPr>
          <a:lstStyle>
            <a:lvl1pPr lvl="0" algn="r">
              <a:buNone/>
              <a:defRPr sz="1733" b="1">
                <a:solidFill>
                  <a:schemeClr val="accent1"/>
                </a:solidFill>
                <a:latin typeface="Source Sans Pro"/>
                <a:ea typeface="Source Sans Pro"/>
                <a:cs typeface="Source Sans Pro"/>
                <a:sym typeface="Source Sans Pro"/>
              </a:defRPr>
            </a:lvl1pPr>
            <a:lvl2pPr lvl="1" algn="r">
              <a:buNone/>
              <a:defRPr sz="1733" b="1">
                <a:solidFill>
                  <a:schemeClr val="accent1"/>
                </a:solidFill>
                <a:latin typeface="Source Sans Pro"/>
                <a:ea typeface="Source Sans Pro"/>
                <a:cs typeface="Source Sans Pro"/>
                <a:sym typeface="Source Sans Pro"/>
              </a:defRPr>
            </a:lvl2pPr>
            <a:lvl3pPr lvl="2" algn="r">
              <a:buNone/>
              <a:defRPr sz="1733" b="1">
                <a:solidFill>
                  <a:schemeClr val="accent1"/>
                </a:solidFill>
                <a:latin typeface="Source Sans Pro"/>
                <a:ea typeface="Source Sans Pro"/>
                <a:cs typeface="Source Sans Pro"/>
                <a:sym typeface="Source Sans Pro"/>
              </a:defRPr>
            </a:lvl3pPr>
            <a:lvl4pPr lvl="3" algn="r">
              <a:buNone/>
              <a:defRPr sz="1733" b="1">
                <a:solidFill>
                  <a:schemeClr val="accent1"/>
                </a:solidFill>
                <a:latin typeface="Source Sans Pro"/>
                <a:ea typeface="Source Sans Pro"/>
                <a:cs typeface="Source Sans Pro"/>
                <a:sym typeface="Source Sans Pro"/>
              </a:defRPr>
            </a:lvl4pPr>
            <a:lvl5pPr lvl="4" algn="r">
              <a:buNone/>
              <a:defRPr sz="1733" b="1">
                <a:solidFill>
                  <a:schemeClr val="accent1"/>
                </a:solidFill>
                <a:latin typeface="Source Sans Pro"/>
                <a:ea typeface="Source Sans Pro"/>
                <a:cs typeface="Source Sans Pro"/>
                <a:sym typeface="Source Sans Pro"/>
              </a:defRPr>
            </a:lvl5pPr>
            <a:lvl6pPr lvl="5" algn="r">
              <a:buNone/>
              <a:defRPr sz="1733" b="1">
                <a:solidFill>
                  <a:schemeClr val="accent1"/>
                </a:solidFill>
                <a:latin typeface="Source Sans Pro"/>
                <a:ea typeface="Source Sans Pro"/>
                <a:cs typeface="Source Sans Pro"/>
                <a:sym typeface="Source Sans Pro"/>
              </a:defRPr>
            </a:lvl6pPr>
            <a:lvl7pPr lvl="6" algn="r">
              <a:buNone/>
              <a:defRPr sz="1733" b="1">
                <a:solidFill>
                  <a:schemeClr val="accent1"/>
                </a:solidFill>
                <a:latin typeface="Source Sans Pro"/>
                <a:ea typeface="Source Sans Pro"/>
                <a:cs typeface="Source Sans Pro"/>
                <a:sym typeface="Source Sans Pro"/>
              </a:defRPr>
            </a:lvl7pPr>
            <a:lvl8pPr lvl="7" algn="r">
              <a:buNone/>
              <a:defRPr sz="1733" b="1">
                <a:solidFill>
                  <a:schemeClr val="accent1"/>
                </a:solidFill>
                <a:latin typeface="Source Sans Pro"/>
                <a:ea typeface="Source Sans Pro"/>
                <a:cs typeface="Source Sans Pro"/>
                <a:sym typeface="Source Sans Pro"/>
              </a:defRPr>
            </a:lvl8pPr>
            <a:lvl9pPr lvl="8" algn="r">
              <a:buNone/>
              <a:defRPr sz="1733" b="1">
                <a:solidFill>
                  <a:schemeClr val="accent1"/>
                </a:solidFill>
                <a:latin typeface="Source Sans Pro"/>
                <a:ea typeface="Source Sans Pro"/>
                <a:cs typeface="Source Sans Pro"/>
                <a:sym typeface="Source Sans Pro"/>
              </a:defRPr>
            </a:lvl9pPr>
          </a:lstStyle>
          <a:p>
            <a:fld id="{9605B80E-331C-48DC-9F55-36877A91BC15}" type="slidenum">
              <a:rPr lang="en-IN" smtClean="0"/>
              <a:t>‹#›</a:t>
            </a:fld>
            <a:endParaRPr lang="en-IN"/>
          </a:p>
        </p:txBody>
      </p:sp>
    </p:spTree>
    <p:extLst>
      <p:ext uri="{BB962C8B-B14F-4D97-AF65-F5344CB8AC3E}">
        <p14:creationId xmlns:p14="http://schemas.microsoft.com/office/powerpoint/2010/main" val="1606715812"/>
      </p:ext>
    </p:extLst>
  </p:cSld>
  <p:clrMap bg1="lt1" tx1="dk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ransition>
    <p:fade thruBlk="1"/>
  </p:transition>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turing.cs.trincoll.edu/~ram/cpsc110/tutorials/colorcipher/ColorCipherEncrypt.png"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turing.cs.trincoll.edu/~ram/cpsc110/tutorials/colorcipher/ColorCipherDecrypt.png"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89D5-08B5-4552-9FE5-A0B477CF2F78}"/>
              </a:ext>
            </a:extLst>
          </p:cNvPr>
          <p:cNvSpPr>
            <a:spLocks noGrp="1"/>
          </p:cNvSpPr>
          <p:nvPr>
            <p:ph type="ctrTitle"/>
          </p:nvPr>
        </p:nvSpPr>
        <p:spPr>
          <a:xfrm>
            <a:off x="1188720" y="203200"/>
            <a:ext cx="9479280" cy="1810327"/>
          </a:xfrm>
        </p:spPr>
        <p:txBody>
          <a:bodyPr>
            <a:normAutofit/>
          </a:bodyPr>
          <a:lstStyle/>
          <a:p>
            <a:pPr marR="57150">
              <a:lnSpc>
                <a:spcPct val="115000"/>
              </a:lnSpc>
              <a:spcBef>
                <a:spcPts val="1200"/>
              </a:spcBef>
              <a:spcAft>
                <a:spcPts val="800"/>
              </a:spcAft>
              <a:tabLst>
                <a:tab pos="2971800" algn="ctr"/>
                <a:tab pos="5943600" algn="r"/>
                <a:tab pos="2971800" algn="ctr"/>
                <a:tab pos="5886450" algn="l"/>
                <a:tab pos="5943600" algn="r"/>
              </a:tabLst>
            </a:pPr>
            <a:r>
              <a:rPr lang="en-US" sz="32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SimSun" panose="02010600030101010101" pitchFamily="2" charset="-122"/>
                <a:cs typeface="Times New Roman" panose="02020603050405020304" pitchFamily="18" charset="0"/>
              </a:rPr>
              <a:t>Information Security Using Play Color Cipher</a:t>
            </a:r>
            <a:br>
              <a:rPr lang="en-IN" sz="2800" b="1" dirty="0">
                <a:solidFill>
                  <a:schemeClr val="accent1">
                    <a:lumMod val="75000"/>
                  </a:schemeClr>
                </a:solidFill>
                <a:effectLst/>
                <a:latin typeface="Times New Roman" panose="02020603050405020304" pitchFamily="18" charset="0"/>
                <a:ea typeface="SimSun" panose="02010600030101010101" pitchFamily="2" charset="-122"/>
                <a:cs typeface="SimSun" panose="02010600030101010101" pitchFamily="2" charset="-122"/>
              </a:rPr>
            </a:br>
            <a:endParaRPr lang="en-IN" sz="2800" b="1" dirty="0">
              <a:solidFill>
                <a:schemeClr val="accent1">
                  <a:lumMod val="75000"/>
                </a:schemeClr>
              </a:solidFill>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3" name="Subtitle 2">
            <a:extLst>
              <a:ext uri="{FF2B5EF4-FFF2-40B4-BE49-F238E27FC236}">
                <a16:creationId xmlns:a16="http://schemas.microsoft.com/office/drawing/2014/main" id="{C2664525-7724-48D2-8481-70A08C702A4C}"/>
              </a:ext>
            </a:extLst>
          </p:cNvPr>
          <p:cNvSpPr>
            <a:spLocks noGrp="1"/>
          </p:cNvSpPr>
          <p:nvPr>
            <p:ph type="subTitle" idx="1"/>
          </p:nvPr>
        </p:nvSpPr>
        <p:spPr>
          <a:xfrm>
            <a:off x="431092" y="2146795"/>
            <a:ext cx="10674221" cy="3172408"/>
          </a:xfrm>
        </p:spPr>
        <p:txBody>
          <a:bodyPr>
            <a:normAutofit fontScale="25000" lnSpcReduction="20000"/>
          </a:bodyPr>
          <a:lstStyle/>
          <a:p>
            <a:pPr algn="ctr"/>
            <a:r>
              <a:rPr lang="en-US" sz="96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Computer</a:t>
            </a:r>
            <a:r>
              <a:rPr lang="en-US" sz="6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r>
              <a:rPr lang="en-US" sz="96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Security Chiefs</a:t>
            </a:r>
            <a:endParaRPr lang="en-US" sz="6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p>
            <a:pPr algn="ctr"/>
            <a:r>
              <a:rPr lang="en-US" sz="62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Presented By:</a:t>
            </a:r>
          </a:p>
          <a:p>
            <a:pPr algn="ctr">
              <a:lnSpc>
                <a:spcPct val="115000"/>
              </a:lnSpc>
              <a:spcBef>
                <a:spcPts val="1200"/>
              </a:spcBef>
              <a:spcAft>
                <a:spcPts val="800"/>
              </a:spcAft>
              <a:tabLst>
                <a:tab pos="2971800" algn="ctr"/>
                <a:tab pos="5943600" algn="r"/>
              </a:tabLst>
            </a:pPr>
            <a:r>
              <a:rPr lang="en-US" sz="4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Vinay Kumar Reddy Donda( Team Lead)</a:t>
            </a:r>
          </a:p>
          <a:p>
            <a:pPr algn="ctr">
              <a:lnSpc>
                <a:spcPct val="115000"/>
              </a:lnSpc>
              <a:spcBef>
                <a:spcPts val="1200"/>
              </a:spcBef>
              <a:spcAft>
                <a:spcPts val="800"/>
              </a:spcAft>
              <a:tabLst>
                <a:tab pos="2971800" algn="ctr"/>
                <a:tab pos="5943600" algn="r"/>
              </a:tabLst>
            </a:pPr>
            <a:r>
              <a:rPr lang="en-US" sz="4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Lakshmi Pravallika Somisetty</a:t>
            </a:r>
            <a:endParaRPr lang="en-IN" sz="4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a:p>
            <a:pPr algn="ctr">
              <a:lnSpc>
                <a:spcPct val="115000"/>
              </a:lnSpc>
              <a:spcBef>
                <a:spcPts val="1200"/>
              </a:spcBef>
              <a:spcAft>
                <a:spcPts val="800"/>
              </a:spcAft>
              <a:tabLst>
                <a:tab pos="2971800" algn="ctr"/>
                <a:tab pos="5943600" algn="r"/>
              </a:tabLst>
            </a:pPr>
            <a:r>
              <a:rPr lang="en-US" sz="4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N V Ravi Kishor </a:t>
            </a:r>
            <a:r>
              <a:rPr lang="en-US" sz="4800"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Mokkapati</a:t>
            </a:r>
            <a:endParaRPr lang="en-IN" sz="4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algn="ctr">
              <a:lnSpc>
                <a:spcPct val="115000"/>
              </a:lnSpc>
              <a:spcBef>
                <a:spcPts val="1200"/>
              </a:spcBef>
              <a:spcAft>
                <a:spcPts val="800"/>
              </a:spcAft>
              <a:tabLst>
                <a:tab pos="2971800" algn="ctr"/>
                <a:tab pos="5943600" algn="r"/>
              </a:tabLst>
            </a:pPr>
            <a:r>
              <a:rPr lang="en-US" sz="4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Sai Madhav Kilaru</a:t>
            </a:r>
            <a:endParaRPr lang="en-IN" sz="4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algn="ctr">
              <a:lnSpc>
                <a:spcPct val="115000"/>
              </a:lnSpc>
              <a:spcBef>
                <a:spcPts val="1200"/>
              </a:spcBef>
              <a:spcAft>
                <a:spcPts val="800"/>
              </a:spcAft>
              <a:tabLst>
                <a:tab pos="2971800" algn="ctr"/>
                <a:tab pos="5943600" algn="r"/>
              </a:tabLst>
            </a:pPr>
            <a:r>
              <a:rPr lang="en-US" sz="4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Shiva </a:t>
            </a:r>
            <a:r>
              <a:rPr lang="en-US" sz="4800"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Charan</a:t>
            </a:r>
            <a:r>
              <a:rPr lang="en-US" sz="4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r>
              <a:rPr lang="en-US" sz="4800"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Gona</a:t>
            </a:r>
            <a:endParaRPr lang="en-IN" sz="4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algn="r"/>
            <a:endParaRPr lang="en-IN" sz="1200" dirty="0"/>
          </a:p>
        </p:txBody>
      </p:sp>
    </p:spTree>
    <p:extLst>
      <p:ext uri="{BB962C8B-B14F-4D97-AF65-F5344CB8AC3E}">
        <p14:creationId xmlns:p14="http://schemas.microsoft.com/office/powerpoint/2010/main" val="585116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9A3A29-FC47-4188-9A2A-F8C231E780FA}"/>
              </a:ext>
            </a:extLst>
          </p:cNvPr>
          <p:cNvSpPr>
            <a:spLocks noGrp="1"/>
          </p:cNvSpPr>
          <p:nvPr>
            <p:ph type="title"/>
          </p:nvPr>
        </p:nvSpPr>
        <p:spPr/>
        <p:txBody>
          <a:bodyPr/>
          <a:lstStyle/>
          <a:p>
            <a:r>
              <a:rPr lang="en-US" dirty="0"/>
              <a:t>OVERVIEW</a:t>
            </a:r>
            <a:endParaRPr lang="en-IN" dirty="0"/>
          </a:p>
        </p:txBody>
      </p:sp>
      <p:sp>
        <p:nvSpPr>
          <p:cNvPr id="5" name="Text Placeholder 4">
            <a:extLst>
              <a:ext uri="{FF2B5EF4-FFF2-40B4-BE49-F238E27FC236}">
                <a16:creationId xmlns:a16="http://schemas.microsoft.com/office/drawing/2014/main" id="{FE608A05-3DE0-4B06-9C79-11A3662C2348}"/>
              </a:ext>
            </a:extLst>
          </p:cNvPr>
          <p:cNvSpPr>
            <a:spLocks noGrp="1"/>
          </p:cNvSpPr>
          <p:nvPr>
            <p:ph type="body" idx="1"/>
          </p:nvPr>
        </p:nvSpPr>
        <p:spPr/>
        <p:txBody>
          <a:bodyPr/>
          <a:lstStyle/>
          <a:p>
            <a:pPr>
              <a:buClrTx/>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Abstract</a:t>
            </a:r>
            <a:endParaRPr lang="en-IN" sz="2400" dirty="0">
              <a:latin typeface="Times New Roman" panose="02020603050405020304" pitchFamily="18" charset="0"/>
              <a:cs typeface="Times New Roman" panose="02020603050405020304" pitchFamily="18" charset="0"/>
            </a:endParaRPr>
          </a:p>
          <a:p>
            <a:pPr>
              <a:buClrTx/>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Play color cipher</a:t>
            </a:r>
          </a:p>
          <a:p>
            <a:pPr>
              <a:buClrTx/>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Why RSA is used?</a:t>
            </a:r>
          </a:p>
          <a:p>
            <a:pPr>
              <a:buClrTx/>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RSA Algorithm</a:t>
            </a:r>
          </a:p>
          <a:p>
            <a:pPr>
              <a:buClrTx/>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Algorithm used</a:t>
            </a:r>
          </a:p>
          <a:p>
            <a:pPr>
              <a:buClrTx/>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Advantages &amp; Disadvantages</a:t>
            </a:r>
          </a:p>
          <a:p>
            <a:pPr>
              <a:buClrTx/>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Conclusion</a:t>
            </a:r>
          </a:p>
          <a:p>
            <a:endParaRPr lang="en-US" dirty="0"/>
          </a:p>
        </p:txBody>
      </p:sp>
    </p:spTree>
    <p:extLst>
      <p:ext uri="{BB962C8B-B14F-4D97-AF65-F5344CB8AC3E}">
        <p14:creationId xmlns:p14="http://schemas.microsoft.com/office/powerpoint/2010/main" val="3484988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1CBC3-07FF-4AA1-A2B0-F50A5351EFE8}"/>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DD4617F-109E-4C4F-8D3A-9E5D2D9E12A2}"/>
              </a:ext>
            </a:extLst>
          </p:cNvPr>
          <p:cNvSpPr>
            <a:spLocks noGrp="1"/>
          </p:cNvSpPr>
          <p:nvPr>
            <p:ph type="body" idx="1"/>
          </p:nvPr>
        </p:nvSpPr>
        <p:spPr/>
        <p:txBody>
          <a:bodyPr/>
          <a:lstStyle/>
          <a:p>
            <a:pPr marL="101598" indent="0" algn="just">
              <a:buNone/>
            </a:pPr>
            <a:r>
              <a:rPr lang="en-US" sz="2000" dirty="0">
                <a:latin typeface="Times New Roman" panose="02020603050405020304" pitchFamily="18" charset="0"/>
                <a:cs typeface="Times New Roman" panose="02020603050405020304" pitchFamily="18" charset="0"/>
              </a:rPr>
              <a:t>In this paper, we are studying about a new encryption technique Play color cipher using RSA algorithm for key transmission. This method is used to prevent Brute-force attacks, Birthday attacks and Man-in-Middle attacks.</a:t>
            </a:r>
          </a:p>
          <a:p>
            <a:pPr marL="101598" indent="0" algn="just">
              <a:buNone/>
            </a:pPr>
            <a:r>
              <a:rPr lang="en-US" sz="2000" dirty="0">
                <a:latin typeface="Times New Roman" panose="02020603050405020304" pitchFamily="18" charset="0"/>
                <a:cs typeface="Times New Roman" panose="02020603050405020304" pitchFamily="18" charset="0"/>
              </a:rPr>
              <a:t>We use substitution method to convert plain text into cipher text. All the characters in plain text is converted into colors which is impossible by the hacker to find out the correct text among 18  decillion permutations of colors.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2479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5ECB0-2146-4219-B314-E71FCA834090}"/>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PLAY COLOR CIPHER</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12208A1-EC05-41FC-A411-72F4901A7C7E}"/>
              </a:ext>
            </a:extLst>
          </p:cNvPr>
          <p:cNvSpPr>
            <a:spLocks noGrp="1"/>
          </p:cNvSpPr>
          <p:nvPr>
            <p:ph type="body" idx="1"/>
          </p:nvPr>
        </p:nvSpPr>
        <p:spPr/>
        <p:txBody>
          <a:bodyPr/>
          <a:lstStyle/>
          <a:p>
            <a:pPr marL="101598" indent="0">
              <a:buNone/>
            </a:pPr>
            <a:r>
              <a:rPr lang="en-US" sz="2400" dirty="0">
                <a:latin typeface="Times New Roman" panose="02020603050405020304" pitchFamily="18" charset="0"/>
                <a:cs typeface="Times New Roman" panose="02020603050405020304" pitchFamily="18" charset="0"/>
              </a:rPr>
              <a:t>It is much similar to play fair cipher. It uses a 5*5 matrix and fits keyword in the first and remaining are placed next. And sequence of 0-25 is allotted.</a:t>
            </a:r>
            <a:r>
              <a:rPr lang="en-US" sz="2400" dirty="0">
                <a:solidFill>
                  <a:srgbClr val="202124"/>
                </a:solidFill>
                <a:effectLst/>
                <a:latin typeface="Times New Roman" panose="02020603050405020304" pitchFamily="18" charset="0"/>
                <a:ea typeface="SimSun" panose="02010600030101010101" pitchFamily="2" charset="-122"/>
                <a:cs typeface="Times New Roman" panose="02020603050405020304" pitchFamily="18" charset="0"/>
              </a:rPr>
              <a:t> </a:t>
            </a:r>
          </a:p>
          <a:p>
            <a:pPr marL="101598" indent="0">
              <a:buNone/>
            </a:pPr>
            <a:r>
              <a:rPr lang="en-US" sz="2400" b="1" dirty="0">
                <a:solidFill>
                  <a:srgbClr val="202124"/>
                </a:solidFill>
                <a:latin typeface="Times New Roman" panose="02020603050405020304" pitchFamily="18" charset="0"/>
                <a:ea typeface="SimSun" panose="02010600030101010101" pitchFamily="2" charset="-122"/>
                <a:cs typeface="Times New Roman" panose="02020603050405020304" pitchFamily="18" charset="0"/>
              </a:rPr>
              <a:t>Encryption</a:t>
            </a:r>
            <a:r>
              <a:rPr lang="en-US" sz="2400" dirty="0">
                <a:solidFill>
                  <a:srgbClr val="202124"/>
                </a:solidFill>
                <a:latin typeface="Times New Roman" panose="02020603050405020304" pitchFamily="18" charset="0"/>
                <a:ea typeface="SimSun" panose="02010600030101010101" pitchFamily="2" charset="-122"/>
                <a:cs typeface="Times New Roman" panose="02020603050405020304" pitchFamily="18" charset="0"/>
              </a:rPr>
              <a:t>:-F</a:t>
            </a:r>
            <a:r>
              <a:rPr lang="en-US" sz="2400" dirty="0">
                <a:solidFill>
                  <a:srgbClr val="202124"/>
                </a:solidFill>
                <a:effectLst/>
                <a:latin typeface="Times New Roman" panose="02020603050405020304" pitchFamily="18" charset="0"/>
                <a:ea typeface="SimSun" panose="02010600030101010101" pitchFamily="2" charset="-122"/>
                <a:cs typeface="Times New Roman" panose="02020603050405020304" pitchFamily="18" charset="0"/>
              </a:rPr>
              <a:t>irst convert a letter into number between 0 to 25 and then multiply it with scaling factor after adding the numbers.</a:t>
            </a:r>
          </a:p>
          <a:p>
            <a:pPr marL="101598" indent="0">
              <a:buNone/>
            </a:pPr>
            <a:r>
              <a:rPr lang="en-US" sz="2400" b="1" dirty="0">
                <a:solidFill>
                  <a:srgbClr val="202124"/>
                </a:solidFill>
                <a:latin typeface="Times New Roman" panose="02020603050405020304" pitchFamily="18" charset="0"/>
                <a:ea typeface="SimSun" panose="02010600030101010101" pitchFamily="2" charset="-122"/>
                <a:cs typeface="Times New Roman" panose="02020603050405020304" pitchFamily="18" charset="0"/>
              </a:rPr>
              <a:t>Decryption</a:t>
            </a:r>
            <a:r>
              <a:rPr lang="en-US" sz="2400" dirty="0">
                <a:solidFill>
                  <a:srgbClr val="202124"/>
                </a:solidFill>
                <a:latin typeface="Times New Roman" panose="02020603050405020304" pitchFamily="18" charset="0"/>
                <a:ea typeface="SimSun" panose="02010600030101010101" pitchFamily="2" charset="-122"/>
                <a:cs typeface="Times New Roman" panose="02020603050405020304" pitchFamily="18" charset="0"/>
              </a:rPr>
              <a:t>:-T</a:t>
            </a:r>
            <a:r>
              <a:rPr lang="en-US" sz="2400" dirty="0">
                <a:solidFill>
                  <a:srgbClr val="202124"/>
                </a:solidFill>
                <a:effectLst/>
                <a:latin typeface="Times New Roman" panose="02020603050405020304" pitchFamily="18" charset="0"/>
                <a:ea typeface="SimSun" panose="02010600030101010101" pitchFamily="2" charset="-122"/>
                <a:cs typeface="Times New Roman" panose="02020603050405020304" pitchFamily="18" charset="0"/>
              </a:rPr>
              <a:t>ake first letters of cipher text and key and subtract them both and then divide them by scaling factor. If after subtraction the value is negative add 26 to get the result. Result will be between 0 to 25 i.e., a to z.</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797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D7711-7429-4AF4-8245-5E553893307C}"/>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Why RSA is used?</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2D4EADD-3E5C-4ABD-B471-BC7A1D1D1C0B}"/>
              </a:ext>
            </a:extLst>
          </p:cNvPr>
          <p:cNvSpPr>
            <a:spLocks noGrp="1"/>
          </p:cNvSpPr>
          <p:nvPr>
            <p:ph type="body" idx="1"/>
          </p:nvPr>
        </p:nvSpPr>
        <p:spPr/>
        <p:txBody>
          <a:bodyPr/>
          <a:lstStyle/>
          <a:p>
            <a:pPr marL="101598" indent="0">
              <a:buNone/>
            </a:pPr>
            <a:r>
              <a:rPr lang="en-US" sz="2400" dirty="0">
                <a:effectLst/>
                <a:latin typeface="Times New Roman" panose="02020603050405020304" pitchFamily="18" charset="0"/>
                <a:ea typeface="SimSun" panose="02010600030101010101" pitchFamily="2" charset="-122"/>
              </a:rPr>
              <a:t>DES algorithm in general uses a 64 bit-key in which 8 bits are used for parity checking, hence only 56 bits are being used and gives 2</a:t>
            </a:r>
            <a:r>
              <a:rPr lang="en-US" sz="2400" baseline="30000" dirty="0">
                <a:effectLst/>
                <a:latin typeface="Times New Roman" panose="02020603050405020304" pitchFamily="18" charset="0"/>
                <a:ea typeface="SimSun" panose="02010600030101010101" pitchFamily="2" charset="-122"/>
              </a:rPr>
              <a:t>56 </a:t>
            </a:r>
            <a:r>
              <a:rPr lang="en-US" sz="2400" dirty="0">
                <a:effectLst/>
                <a:latin typeface="Times New Roman" panose="02020603050405020304" pitchFamily="18" charset="0"/>
                <a:ea typeface="SimSun" panose="02010600030101010101" pitchFamily="2" charset="-122"/>
              </a:rPr>
              <a:t>permutations. AES algorithm depends on rounds of encryption hence provides few permutations only.</a:t>
            </a:r>
          </a:p>
          <a:p>
            <a:pPr marL="101598" indent="0">
              <a:buNone/>
            </a:pPr>
            <a:endParaRPr lang="en-US" sz="2400" dirty="0">
              <a:latin typeface="Times New Roman" panose="02020603050405020304" pitchFamily="18" charset="0"/>
              <a:ea typeface="SimSun" panose="02010600030101010101" pitchFamily="2" charset="-122"/>
            </a:endParaRPr>
          </a:p>
          <a:p>
            <a:pPr marL="101598" indent="0">
              <a:buNone/>
            </a:pPr>
            <a:r>
              <a:rPr lang="en-US" sz="2400" dirty="0">
                <a:latin typeface="Times New Roman" panose="02020603050405020304" pitchFamily="18" charset="0"/>
                <a:ea typeface="SimSun" panose="02010600030101010101" pitchFamily="2" charset="-122"/>
              </a:rPr>
              <a:t>For example if we take three colors namely yellow, green and orange, RSA provides </a:t>
            </a:r>
            <a:r>
              <a:rPr lang="en-US" sz="2400" dirty="0">
                <a:effectLst/>
                <a:latin typeface="Times New Roman" panose="02020603050405020304" pitchFamily="18" charset="0"/>
                <a:ea typeface="SimSun" panose="02010600030101010101" pitchFamily="2" charset="-122"/>
              </a:rPr>
              <a:t>1</a:t>
            </a:r>
            <a:r>
              <a:rPr lang="en-US" sz="2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,67,77,216</a:t>
            </a:r>
            <a:r>
              <a:rPr lang="en-US" sz="2400" dirty="0">
                <a:effectLst/>
                <a:latin typeface="Times New Roman" panose="02020603050405020304" pitchFamily="18" charset="0"/>
                <a:ea typeface="SimSun" panose="02010600030101010101" pitchFamily="2" charset="-122"/>
              </a:rPr>
              <a:t> permutations due to the color range and scaling factor</a:t>
            </a:r>
            <a:r>
              <a:rPr lang="en-US" sz="1800" dirty="0">
                <a:effectLst/>
                <a:latin typeface="Times New Roman" panose="02020603050405020304" pitchFamily="18" charset="0"/>
                <a:ea typeface="SimSun" panose="02010600030101010101" pitchFamily="2" charset="-122"/>
              </a:rPr>
              <a:t>.</a:t>
            </a:r>
            <a:endParaRPr lang="en-IN" dirty="0"/>
          </a:p>
        </p:txBody>
      </p:sp>
    </p:spTree>
    <p:extLst>
      <p:ext uri="{BB962C8B-B14F-4D97-AF65-F5344CB8AC3E}">
        <p14:creationId xmlns:p14="http://schemas.microsoft.com/office/powerpoint/2010/main" val="3202171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F649-397F-4333-A203-B434B6F2BAEE}"/>
              </a:ext>
            </a:extLst>
          </p:cNvPr>
          <p:cNvSpPr>
            <a:spLocks noGrp="1"/>
          </p:cNvSpPr>
          <p:nvPr>
            <p:ph type="title"/>
          </p:nvPr>
        </p:nvSpPr>
        <p:spPr>
          <a:xfrm>
            <a:off x="1048200" y="401496"/>
            <a:ext cx="10095600" cy="936800"/>
          </a:xfrm>
        </p:spPr>
        <p:txBody>
          <a:bodyPr/>
          <a:lstStyle/>
          <a:p>
            <a:r>
              <a:rPr lang="en-US" sz="2400" dirty="0">
                <a:latin typeface="Times New Roman" panose="02020603050405020304" pitchFamily="18" charset="0"/>
                <a:cs typeface="Times New Roman" panose="02020603050405020304" pitchFamily="18" charset="0"/>
              </a:rPr>
              <a:t>RSA Algorithm</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82972E2-30A0-4406-865B-8B6A70C7CF10}"/>
              </a:ext>
            </a:extLst>
          </p:cNvPr>
          <p:cNvSpPr>
            <a:spLocks noGrp="1"/>
          </p:cNvSpPr>
          <p:nvPr>
            <p:ph type="body" idx="1"/>
          </p:nvPr>
        </p:nvSpPr>
        <p:spPr>
          <a:xfrm>
            <a:off x="1048200" y="1239520"/>
            <a:ext cx="10095600" cy="5207547"/>
          </a:xfrm>
        </p:spPr>
        <p:txBody>
          <a:bodyPr/>
          <a:lstStyle/>
          <a:p>
            <a:pPr marL="101598" indent="0">
              <a:buNone/>
            </a:pPr>
            <a:r>
              <a:rPr lang="en-US" sz="2400" dirty="0">
                <a:solidFill>
                  <a:srgbClr val="000000"/>
                </a:solidFill>
                <a:effectLst/>
                <a:latin typeface="Times New Roman" panose="02020603050405020304" pitchFamily="18" charset="0"/>
                <a:ea typeface="SimSun" panose="02010600030101010101" pitchFamily="2" charset="-122"/>
              </a:rPr>
              <a:t>Using RSA algorithm we generate a public key by multiplying two random large prime numbers. Also, private key is generated using same prime numbers. Here encryption is done using public key and decryption is done using private key.</a:t>
            </a:r>
          </a:p>
          <a:p>
            <a:pPr marL="0" lvl="0" indent="0" algn="just">
              <a:lnSpc>
                <a:spcPct val="115000"/>
              </a:lnSpc>
              <a:spcBef>
                <a:spcPts val="600"/>
              </a:spcBef>
              <a:spcAft>
                <a:spcPts val="600"/>
              </a:spcAft>
              <a:buNone/>
            </a:pPr>
            <a:r>
              <a:rPr lang="en-US" sz="2400" dirty="0">
                <a:solidFill>
                  <a:srgbClr val="000000"/>
                </a:solidFill>
                <a:latin typeface="Times New Roman" panose="02020603050405020304" pitchFamily="18" charset="0"/>
                <a:ea typeface="SimSun" panose="02010600030101010101" pitchFamily="2" charset="-122"/>
              </a:rPr>
              <a:t>It uses four steps </a:t>
            </a:r>
            <a:r>
              <a:rPr lang="en-US" sz="2400" dirty="0">
                <a:solidFill>
                  <a:srgbClr val="000000"/>
                </a:solidFill>
                <a:effectLst/>
                <a:latin typeface="Times New Roman" panose="02020603050405020304" pitchFamily="18" charset="0"/>
                <a:ea typeface="Times New Roman" panose="02020603050405020304" pitchFamily="18" charset="0"/>
              </a:rPr>
              <a:t>Key generation, Key distribution, Encryption, Decryption. Now the scenario is information is being transmitted from user A and user B.</a:t>
            </a:r>
          </a:p>
          <a:p>
            <a:pPr marL="0" indent="0" algn="just">
              <a:lnSpc>
                <a:spcPct val="115000"/>
              </a:lnSpc>
              <a:spcBef>
                <a:spcPts val="600"/>
              </a:spcBef>
              <a:spcAft>
                <a:spcPts val="600"/>
              </a:spcAft>
              <a:buNone/>
            </a:pPr>
            <a:r>
              <a:rPr lang="en-US" sz="2400" b="1" dirty="0">
                <a:solidFill>
                  <a:srgbClr val="000000"/>
                </a:solidFill>
                <a:latin typeface="Times New Roman" panose="02020603050405020304" pitchFamily="18" charset="0"/>
                <a:ea typeface="Times New Roman" panose="02020603050405020304" pitchFamily="18" charset="0"/>
              </a:rPr>
              <a:t>Key generation:</a:t>
            </a:r>
          </a:p>
          <a:p>
            <a:pPr marL="0" indent="0" algn="just">
              <a:lnSpc>
                <a:spcPct val="115000"/>
              </a:lnSpc>
              <a:spcBef>
                <a:spcPts val="600"/>
              </a:spcBef>
              <a:spcAft>
                <a:spcPts val="600"/>
              </a:spcAft>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Compute λ(n), λ(p), λ(q) where p and q are two prime numbers</a:t>
            </a:r>
          </a:p>
          <a:p>
            <a:pPr marL="0" indent="0" algn="just">
              <a:lnSpc>
                <a:spcPct val="115000"/>
              </a:lnSpc>
              <a:spcBef>
                <a:spcPts val="600"/>
              </a:spcBef>
              <a:spcAft>
                <a:spcPts val="600"/>
              </a:spcAft>
              <a:buNone/>
            </a:pPr>
            <a:r>
              <a:rPr lang="en-US" sz="2400" dirty="0">
                <a:solidFill>
                  <a:schemeClr val="tx1"/>
                </a:solidFill>
                <a:effectLst/>
                <a:latin typeface="Times New Roman" panose="02020603050405020304" pitchFamily="18" charset="0"/>
                <a:ea typeface="SimSun" panose="02010600030101010101" pitchFamily="2" charset="-122"/>
              </a:rPr>
              <a:t>Then, d ≡ e</a:t>
            </a:r>
            <a:r>
              <a:rPr lang="en-US" sz="2400" baseline="30000" dirty="0">
                <a:solidFill>
                  <a:schemeClr val="tx1"/>
                </a:solidFill>
                <a:effectLst/>
                <a:latin typeface="Times New Roman" panose="02020603050405020304" pitchFamily="18" charset="0"/>
                <a:ea typeface="SimSun" panose="02010600030101010101" pitchFamily="2" charset="-122"/>
              </a:rPr>
              <a:t>−1</a:t>
            </a:r>
            <a:r>
              <a:rPr lang="en-US" sz="2400" dirty="0">
                <a:solidFill>
                  <a:schemeClr val="tx1"/>
                </a:solidFill>
                <a:effectLst/>
                <a:latin typeface="Times New Roman" panose="02020603050405020304" pitchFamily="18" charset="0"/>
                <a:ea typeface="SimSun" panose="02010600030101010101" pitchFamily="2" charset="-122"/>
              </a:rPr>
              <a:t> (mod λ(n))</a:t>
            </a:r>
          </a:p>
          <a:p>
            <a:pPr marL="0" indent="0" algn="just">
              <a:lnSpc>
                <a:spcPct val="115000"/>
              </a:lnSpc>
              <a:spcBef>
                <a:spcPts val="600"/>
              </a:spcBef>
              <a:spcAft>
                <a:spcPts val="600"/>
              </a:spcAft>
              <a:buNone/>
            </a:pPr>
            <a:endPar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5000"/>
              </a:lnSpc>
              <a:spcBef>
                <a:spcPts val="600"/>
              </a:spcBef>
              <a:spcAft>
                <a:spcPts val="600"/>
              </a:spcAft>
              <a:buNone/>
            </a:pPr>
            <a:endPar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5000"/>
              </a:lnSpc>
              <a:spcBef>
                <a:spcPts val="600"/>
              </a:spcBef>
              <a:spcAft>
                <a:spcPts val="600"/>
              </a:spcAft>
              <a:buNone/>
            </a:pPr>
            <a:endPar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5000"/>
              </a:lnSpc>
              <a:spcBef>
                <a:spcPts val="600"/>
              </a:spcBef>
              <a:spcAft>
                <a:spcPts val="600"/>
              </a:spcAft>
              <a:buNone/>
            </a:pPr>
            <a:endParaRPr lang="en-IN" sz="1800" b="1" dirty="0">
              <a:solidFill>
                <a:srgbClr val="243F60"/>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lvl="0" indent="0" algn="just">
              <a:lnSpc>
                <a:spcPct val="115000"/>
              </a:lnSpc>
              <a:spcBef>
                <a:spcPts val="600"/>
              </a:spcBef>
              <a:spcAft>
                <a:spcPts val="600"/>
              </a:spcAft>
              <a:buNone/>
            </a:pPr>
            <a:endParaRPr lang="en-IN" sz="1800" dirty="0">
              <a:effectLst/>
              <a:latin typeface="Times New Roman" panose="02020603050405020304" pitchFamily="18" charset="0"/>
              <a:ea typeface="Times New Roman" panose="02020603050405020304" pitchFamily="18" charset="0"/>
            </a:endParaRPr>
          </a:p>
          <a:p>
            <a:pPr marL="101598" indent="0">
              <a:buNone/>
            </a:pPr>
            <a:endParaRPr lang="en-IN" sz="4000" dirty="0"/>
          </a:p>
        </p:txBody>
      </p:sp>
    </p:spTree>
    <p:extLst>
      <p:ext uri="{BB962C8B-B14F-4D97-AF65-F5344CB8AC3E}">
        <p14:creationId xmlns:p14="http://schemas.microsoft.com/office/powerpoint/2010/main" val="161161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DE35-4BA9-42B9-AE5E-1A3EAA96D3D4}"/>
              </a:ext>
            </a:extLst>
          </p:cNvPr>
          <p:cNvSpPr>
            <a:spLocks noGrp="1"/>
          </p:cNvSpPr>
          <p:nvPr>
            <p:ph type="title"/>
          </p:nvPr>
        </p:nvSpPr>
        <p:spPr/>
        <p:txBody>
          <a:bodyPr/>
          <a:lstStyle/>
          <a:p>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E409680-A2C0-46B9-AB38-AF66C97E9B71}"/>
                  </a:ext>
                </a:extLst>
              </p:cNvPr>
              <p:cNvSpPr>
                <a:spLocks noGrp="1"/>
              </p:cNvSpPr>
              <p:nvPr>
                <p:ph type="body" idx="1"/>
              </p:nvPr>
            </p:nvSpPr>
            <p:spPr>
              <a:xfrm>
                <a:off x="830424" y="1347627"/>
                <a:ext cx="10313376" cy="5099440"/>
              </a:xfrm>
            </p:spPr>
            <p:txBody>
              <a:bodyPr/>
              <a:lstStyle/>
              <a:p>
                <a:pPr marL="0" indent="0" algn="just">
                  <a:lnSpc>
                    <a:spcPct val="115000"/>
                  </a:lnSpc>
                  <a:spcBef>
                    <a:spcPts val="600"/>
                  </a:spcBef>
                  <a:spcAft>
                    <a:spcPts val="600"/>
                  </a:spcAft>
                  <a:buNone/>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Key </a:t>
                </a:r>
                <a:r>
                  <a:rPr lang="en-US" sz="24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distrubution</a:t>
                </a: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115000"/>
                  </a:lnSpc>
                  <a:spcBef>
                    <a:spcPts val="600"/>
                  </a:spcBef>
                  <a:spcAft>
                    <a:spcPts val="600"/>
                  </a:spcAft>
                  <a:buNone/>
                </a:pP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a:solidFill>
                      <a:srgbClr val="000000"/>
                    </a:solidFill>
                    <a:latin typeface="Times New Roman" panose="02020603050405020304" pitchFamily="18" charset="0"/>
                    <a:ea typeface="Times New Roman" panose="02020603050405020304" pitchFamily="18" charset="0"/>
                  </a:rPr>
                  <a:t>U</a:t>
                </a:r>
                <a:r>
                  <a:rPr lang="en-US" sz="2400" dirty="0">
                    <a:solidFill>
                      <a:srgbClr val="000000"/>
                    </a:solidFill>
                    <a:effectLst/>
                    <a:latin typeface="Times New Roman" panose="02020603050405020304" pitchFamily="18" charset="0"/>
                    <a:ea typeface="Times New Roman" panose="02020603050405020304" pitchFamily="18" charset="0"/>
                  </a:rPr>
                  <a:t>ser B transmits his public key (n, e) to user A via a reliable, but not necessarily secret, route. </a:t>
                </a:r>
                <a:r>
                  <a:rPr lang="en-US" sz="2400" dirty="0">
                    <a:solidFill>
                      <a:srgbClr val="000000"/>
                    </a:solidFill>
                    <a:latin typeface="Times New Roman" panose="02020603050405020304" pitchFamily="18" charset="0"/>
                    <a:ea typeface="Times New Roman" panose="02020603050405020304" pitchFamily="18" charset="0"/>
                  </a:rPr>
                  <a:t>U</a:t>
                </a:r>
                <a:r>
                  <a:rPr lang="en-US" sz="2400" dirty="0">
                    <a:solidFill>
                      <a:srgbClr val="000000"/>
                    </a:solidFill>
                    <a:effectLst/>
                    <a:latin typeface="Times New Roman" panose="02020603050405020304" pitchFamily="18" charset="0"/>
                    <a:ea typeface="Times New Roman" panose="02020603050405020304" pitchFamily="18" charset="0"/>
                  </a:rPr>
                  <a:t>ser B private key (d) is never distributed.</a:t>
                </a:r>
                <a:endParaRPr lang="en-IN" sz="2400" dirty="0">
                  <a:effectLst/>
                  <a:latin typeface="Times New Roman" panose="02020603050405020304" pitchFamily="18" charset="0"/>
                  <a:ea typeface="Times New Roman" panose="02020603050405020304" pitchFamily="18" charset="0"/>
                </a:endParaRPr>
              </a:p>
              <a:p>
                <a:pPr marL="101598" indent="0" algn="just">
                  <a:buNone/>
                </a:pPr>
                <a:r>
                  <a:rPr lang="en-US" sz="2400" b="1" dirty="0">
                    <a:solidFill>
                      <a:schemeClr val="tx1"/>
                    </a:solidFill>
                    <a:latin typeface="Times New Roman" panose="02020603050405020304" pitchFamily="18" charset="0"/>
                    <a:cs typeface="Times New Roman" panose="02020603050405020304" pitchFamily="18" charset="0"/>
                  </a:rPr>
                  <a:t>Encryption</a:t>
                </a:r>
                <a:r>
                  <a:rPr lang="en-IN" sz="2400" b="1" dirty="0">
                    <a:latin typeface="Times New Roman" panose="02020603050405020304" pitchFamily="18" charset="0"/>
                    <a:cs typeface="Times New Roman" panose="02020603050405020304" pitchFamily="18" charset="0"/>
                  </a:rPr>
                  <a:t>:</a:t>
                </a:r>
              </a:p>
              <a:p>
                <a:pPr marL="101598" indent="0" algn="just">
                  <a:buNone/>
                </a:pPr>
                <a:r>
                  <a:rPr lang="en-US" sz="24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After user A obtains user B public key, he can send a message M to user B.</a:t>
                </a:r>
              </a:p>
              <a:p>
                <a:pPr marL="101598" indent="0" algn="ctr">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t>
                </a:r>
                <a14:m>
                  <m:oMath xmlns:m="http://schemas.openxmlformats.org/officeDocument/2006/math">
                    <m:sSup>
                      <m:sSupPr>
                        <m:ctrlPr>
                          <a:rPr lang="en-IN" sz="2400" i="1">
                            <a:effectLst/>
                            <a:latin typeface="Cambria Math" panose="02040503050406030204" pitchFamily="18" charset="0"/>
                            <a:ea typeface="Times New Roman" panose="02020603050405020304" pitchFamily="18" charset="0"/>
                          </a:rPr>
                        </m:ctrlPr>
                      </m:sSupPr>
                      <m:e>
                        <m:d>
                          <m:dPr>
                            <m:ctrlPr>
                              <a:rPr lang="en-IN" sz="2400" i="1">
                                <a:effectLst/>
                                <a:latin typeface="Cambria Math" panose="02040503050406030204" pitchFamily="18" charset="0"/>
                                <a:ea typeface="Times New Roman" panose="02020603050405020304" pitchFamily="18" charset="0"/>
                              </a:rPr>
                            </m:ctrlPr>
                          </m:dPr>
                          <m:e>
                            <m:sSup>
                              <m:sSupPr>
                                <m:ctrlPr>
                                  <a:rPr lang="en-IN" sz="2400" i="1">
                                    <a:effectLst/>
                                    <a:latin typeface="Cambria Math" panose="02040503050406030204" pitchFamily="18" charset="0"/>
                                    <a:ea typeface="Times New Roman" panose="02020603050405020304" pitchFamily="18" charset="0"/>
                                  </a:rPr>
                                </m:ctrlPr>
                              </m:sSupPr>
                              <m:e>
                                <m:r>
                                  <m:rPr>
                                    <m:sty m:val="p"/>
                                  </m:rPr>
                                  <a:rPr lang="en-US" sz="2400">
                                    <a:solidFill>
                                      <a:srgbClr val="000000"/>
                                    </a:solidFill>
                                    <a:effectLst/>
                                    <a:latin typeface="Cambria Math" panose="02040503050406030204" pitchFamily="18" charset="0"/>
                                    <a:ea typeface="Times New Roman" panose="02020603050405020304" pitchFamily="18" charset="0"/>
                                  </a:rPr>
                                  <m:t>m</m:t>
                                </m:r>
                              </m:e>
                              <m:sup>
                                <m:r>
                                  <m:rPr>
                                    <m:sty m:val="p"/>
                                  </m:rPr>
                                  <a:rPr lang="en-US" sz="2400">
                                    <a:solidFill>
                                      <a:srgbClr val="000000"/>
                                    </a:solidFill>
                                    <a:effectLst/>
                                    <a:latin typeface="Cambria Math" panose="02040503050406030204" pitchFamily="18" charset="0"/>
                                    <a:ea typeface="Times New Roman" panose="02020603050405020304" pitchFamily="18" charset="0"/>
                                  </a:rPr>
                                  <m:t>e</m:t>
                                </m:r>
                              </m:sup>
                            </m:sSup>
                          </m:e>
                        </m:d>
                      </m:e>
                      <m:sup/>
                    </m:sSup>
                  </m:oMath>
                </a14:m>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modn</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101598" indent="0" algn="just">
                  <a:buNone/>
                </a:pPr>
                <a:r>
                  <a:rPr lang="en-US" sz="2400" b="1" dirty="0">
                    <a:solidFill>
                      <a:srgbClr val="000000"/>
                    </a:solidFill>
                    <a:latin typeface="Times New Roman" panose="02020603050405020304" pitchFamily="18" charset="0"/>
                    <a:cs typeface="Times New Roman" panose="02020603050405020304" pitchFamily="18" charset="0"/>
                  </a:rPr>
                  <a:t>Decryption:</a:t>
                </a:r>
              </a:p>
              <a:p>
                <a:pPr marL="101598" indent="0" algn="just">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 B can recover m from C by using his private key exponent d by computing</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Bef>
                    <a:spcPts val="600"/>
                  </a:spcBef>
                  <a:spcAft>
                    <a:spcPts val="600"/>
                  </a:spcAft>
                  <a:buNone/>
                </a:pPr>
                <a14:m>
                  <m:oMath xmlns:m="http://schemas.openxmlformats.org/officeDocument/2006/math">
                    <m:sSup>
                      <m:sSupPr>
                        <m:ctrlPr>
                          <a:rPr lang="en-IN" sz="2400" i="1">
                            <a:effectLst/>
                            <a:latin typeface="Cambria Math" panose="02040503050406030204" pitchFamily="18" charset="0"/>
                            <a:ea typeface="Times New Roman" panose="02020603050405020304" pitchFamily="18" charset="0"/>
                          </a:rPr>
                        </m:ctrlPr>
                      </m:sSupPr>
                      <m:e>
                        <m:sSup>
                          <m:sSupPr>
                            <m:ctrlPr>
                              <a:rPr lang="en-IN" sz="2400" i="1">
                                <a:effectLst/>
                                <a:latin typeface="Cambria Math" panose="02040503050406030204" pitchFamily="18" charset="0"/>
                                <a:ea typeface="Times New Roman" panose="02020603050405020304" pitchFamily="18" charset="0"/>
                              </a:rPr>
                            </m:ctrlPr>
                          </m:sSupPr>
                          <m:e>
                            <m:r>
                              <m:rPr>
                                <m:sty m:val="p"/>
                              </m:rPr>
                              <a:rPr lang="en-US" sz="2400" b="0" i="0" smtClean="0">
                                <a:effectLst/>
                                <a:latin typeface="Cambria Math" panose="02040503050406030204" pitchFamily="18" charset="0"/>
                                <a:ea typeface="Times New Roman" panose="02020603050405020304" pitchFamily="18" charset="0"/>
                              </a:rPr>
                              <m:t>C</m:t>
                            </m:r>
                          </m:e>
                          <m:sup>
                            <m:r>
                              <m:rPr>
                                <m:sty m:val="p"/>
                              </m:rPr>
                              <a:rPr lang="en-US" sz="2400">
                                <a:solidFill>
                                  <a:srgbClr val="000000"/>
                                </a:solidFill>
                                <a:effectLst/>
                                <a:latin typeface="Cambria Math" panose="02040503050406030204" pitchFamily="18" charset="0"/>
                                <a:ea typeface="Times New Roman" panose="02020603050405020304" pitchFamily="18" charset="0"/>
                              </a:rPr>
                              <m:t>d</m:t>
                            </m:r>
                          </m:sup>
                        </m:sSup>
                        <m:r>
                          <a:rPr lang="en-US" sz="2400">
                            <a:solidFill>
                              <a:srgbClr val="000000"/>
                            </a:solidFill>
                            <a:effectLst/>
                            <a:latin typeface="Cambria Math" panose="02040503050406030204" pitchFamily="18" charset="0"/>
                            <a:ea typeface="Times New Roman" panose="02020603050405020304" pitchFamily="18" charset="0"/>
                          </a:rPr>
                          <m:t>=</m:t>
                        </m:r>
                        <m:d>
                          <m:dPr>
                            <m:ctrlPr>
                              <a:rPr lang="en-IN" sz="2400" i="1">
                                <a:effectLst/>
                                <a:latin typeface="Cambria Math" panose="02040503050406030204" pitchFamily="18" charset="0"/>
                                <a:ea typeface="Times New Roman" panose="02020603050405020304" pitchFamily="18" charset="0"/>
                              </a:rPr>
                            </m:ctrlPr>
                          </m:dPr>
                          <m:e>
                            <m:sSup>
                              <m:sSupPr>
                                <m:ctrlPr>
                                  <a:rPr lang="en-IN" sz="2400" i="1">
                                    <a:effectLst/>
                                    <a:latin typeface="Cambria Math" panose="02040503050406030204" pitchFamily="18" charset="0"/>
                                    <a:ea typeface="Times New Roman" panose="02020603050405020304" pitchFamily="18" charset="0"/>
                                  </a:rPr>
                                </m:ctrlPr>
                              </m:sSupPr>
                              <m:e>
                                <m:r>
                                  <m:rPr>
                                    <m:sty m:val="p"/>
                                  </m:rPr>
                                  <a:rPr lang="en-US" sz="2400">
                                    <a:solidFill>
                                      <a:srgbClr val="000000"/>
                                    </a:solidFill>
                                    <a:effectLst/>
                                    <a:latin typeface="Cambria Math" panose="02040503050406030204" pitchFamily="18" charset="0"/>
                                    <a:ea typeface="Times New Roman" panose="02020603050405020304" pitchFamily="18" charset="0"/>
                                  </a:rPr>
                                  <m:t>m</m:t>
                                </m:r>
                              </m:e>
                              <m:sup>
                                <m:r>
                                  <m:rPr>
                                    <m:sty m:val="p"/>
                                  </m:rPr>
                                  <a:rPr lang="en-US" sz="2400">
                                    <a:solidFill>
                                      <a:srgbClr val="000000"/>
                                    </a:solidFill>
                                    <a:effectLst/>
                                    <a:latin typeface="Cambria Math" panose="02040503050406030204" pitchFamily="18" charset="0"/>
                                    <a:ea typeface="Times New Roman" panose="02020603050405020304" pitchFamily="18" charset="0"/>
                                  </a:rPr>
                                  <m:t>e</m:t>
                                </m:r>
                              </m:sup>
                            </m:sSup>
                          </m:e>
                        </m:d>
                      </m:e>
                      <m:sup>
                        <m:r>
                          <m:rPr>
                            <m:sty m:val="p"/>
                          </m:rPr>
                          <a:rPr lang="en-US" sz="2400">
                            <a:solidFill>
                              <a:srgbClr val="000000"/>
                            </a:solidFill>
                            <a:effectLst/>
                            <a:latin typeface="Cambria Math" panose="02040503050406030204" pitchFamily="18" charset="0"/>
                            <a:ea typeface="Times New Roman" panose="02020603050405020304" pitchFamily="18" charset="0"/>
                          </a:rPr>
                          <m:t>d</m:t>
                        </m:r>
                      </m:sup>
                    </m:sSup>
                    <m:r>
                      <a:rPr lang="en-US" sz="2400">
                        <a:solidFill>
                          <a:srgbClr val="000000"/>
                        </a:solidFill>
                        <a:effectLst/>
                        <a:latin typeface="Cambria Math" panose="02040503050406030204" pitchFamily="18" charset="0"/>
                        <a:ea typeface="Times New Roman" panose="02020603050405020304" pitchFamily="18" charset="0"/>
                      </a:rPr>
                      <m:t>=</m:t>
                    </m:r>
                  </m:oMath>
                </a14:m>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t>
                </a:r>
                <a:r>
                  <a:rPr lang="en-US"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modn</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01598" indent="0" algn="just">
                  <a:buNone/>
                </a:pPr>
                <a:endParaRPr lang="en-US" dirty="0"/>
              </a:p>
            </p:txBody>
          </p:sp>
        </mc:Choice>
        <mc:Fallback xmlns="">
          <p:sp>
            <p:nvSpPr>
              <p:cNvPr id="3" name="Text Placeholder 2">
                <a:extLst>
                  <a:ext uri="{FF2B5EF4-FFF2-40B4-BE49-F238E27FC236}">
                    <a16:creationId xmlns:a16="http://schemas.microsoft.com/office/drawing/2014/main" id="{9E409680-A2C0-46B9-AB38-AF66C97E9B71}"/>
                  </a:ext>
                </a:extLst>
              </p:cNvPr>
              <p:cNvSpPr>
                <a:spLocks noGrp="1" noRot="1" noChangeAspect="1" noMove="1" noResize="1" noEditPoints="1" noAdjustHandles="1" noChangeArrowheads="1" noChangeShapeType="1" noTextEdit="1"/>
              </p:cNvSpPr>
              <p:nvPr>
                <p:ph type="body" idx="1"/>
              </p:nvPr>
            </p:nvSpPr>
            <p:spPr>
              <a:xfrm>
                <a:off x="830424" y="1347627"/>
                <a:ext cx="10313376" cy="5099440"/>
              </a:xfrm>
              <a:blipFill>
                <a:blip r:embed="rId2"/>
                <a:stretch>
                  <a:fillRect l="-887" r="-946"/>
                </a:stretch>
              </a:blipFill>
            </p:spPr>
            <p:txBody>
              <a:bodyPr/>
              <a:lstStyle/>
              <a:p>
                <a:r>
                  <a:rPr lang="en-IN">
                    <a:noFill/>
                  </a:rPr>
                  <a:t> </a:t>
                </a:r>
              </a:p>
            </p:txBody>
          </p:sp>
        </mc:Fallback>
      </mc:AlternateContent>
    </p:spTree>
    <p:extLst>
      <p:ext uri="{BB962C8B-B14F-4D97-AF65-F5344CB8AC3E}">
        <p14:creationId xmlns:p14="http://schemas.microsoft.com/office/powerpoint/2010/main" val="749157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39B9B-AF80-4EAB-AC51-03EAE7F29A60}"/>
              </a:ext>
            </a:extLst>
          </p:cNvPr>
          <p:cNvSpPr>
            <a:spLocks noGrp="1"/>
          </p:cNvSpPr>
          <p:nvPr>
            <p:ph type="title"/>
          </p:nvPr>
        </p:nvSpPr>
        <p:spPr>
          <a:xfrm>
            <a:off x="751840" y="261257"/>
            <a:ext cx="10028066" cy="1007706"/>
          </a:xfrm>
        </p:spPr>
        <p:txBody>
          <a:bodyPr/>
          <a:lstStyle/>
          <a:p>
            <a:pPr algn="just"/>
            <a:r>
              <a:rPr lang="en-US" sz="2400" dirty="0">
                <a:latin typeface="Times New Roman" panose="02020603050405020304" pitchFamily="18" charset="0"/>
                <a:cs typeface="Times New Roman" panose="02020603050405020304" pitchFamily="18" charset="0"/>
              </a:rPr>
              <a:t>Algorithm used</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6453562-FA5D-439B-967B-938476F936F6}"/>
              </a:ext>
            </a:extLst>
          </p:cNvPr>
          <p:cNvSpPr>
            <a:spLocks noGrp="1"/>
          </p:cNvSpPr>
          <p:nvPr>
            <p:ph type="body" idx="1"/>
          </p:nvPr>
        </p:nvSpPr>
        <p:spPr>
          <a:xfrm>
            <a:off x="944880" y="1188721"/>
            <a:ext cx="9882922" cy="5268064"/>
          </a:xfrm>
        </p:spPr>
        <p:txBody>
          <a:bodyPr/>
          <a:lstStyle/>
          <a:p>
            <a:pPr marL="0" indent="0" algn="just">
              <a:lnSpc>
                <a:spcPct val="115000"/>
              </a:lnSpc>
              <a:spcBef>
                <a:spcPts val="0"/>
              </a:spcBef>
              <a:spcAft>
                <a:spcPts val="800"/>
              </a:spcAft>
              <a:buClrTx/>
              <a:buNone/>
            </a:pPr>
            <a:r>
              <a:rPr lang="en-US" sz="24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ENCRYPTION:</a:t>
            </a:r>
          </a:p>
          <a:p>
            <a:pPr marL="285750" indent="-285750" algn="just">
              <a:lnSpc>
                <a:spcPct val="115000"/>
              </a:lnSpc>
              <a:spcBef>
                <a:spcPts val="0"/>
              </a:spcBef>
              <a:spcAft>
                <a:spcPts val="800"/>
              </a:spcAft>
              <a:buClrTx/>
              <a:buFont typeface="Arial" panose="020B0604020202020204" pitchFamily="34" charset="0"/>
              <a:buChar char="•"/>
            </a:pPr>
            <a:r>
              <a:rPr lang="en-US" sz="24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sz="2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RSA consists of 128-bit key which is divided into 4 parts K1, K2, K3, K4.</a:t>
            </a:r>
            <a:endParaRPr lang="en-IN" sz="2400" dirty="0">
              <a:solidFill>
                <a:schemeClr val="tx1"/>
              </a:solidFill>
              <a:effectLst/>
              <a:latin typeface="Times New Roman" panose="02020603050405020304" pitchFamily="18" charset="0"/>
              <a:ea typeface="SimSun" panose="02010600030101010101" pitchFamily="2" charset="-122"/>
              <a:cs typeface="SimSun" panose="02010600030101010101" pitchFamily="2" charset="-122"/>
            </a:endParaRPr>
          </a:p>
          <a:p>
            <a:pPr marL="285750" indent="-285750" algn="just">
              <a:lnSpc>
                <a:spcPct val="115000"/>
              </a:lnSpc>
              <a:spcBef>
                <a:spcPts val="0"/>
              </a:spcBef>
              <a:spcAft>
                <a:spcPts val="800"/>
              </a:spcAft>
              <a:buClrTx/>
              <a:buFont typeface="Arial" panose="020B0604020202020204" pitchFamily="34" charset="0"/>
              <a:buChar char="•"/>
            </a:pPr>
            <a:r>
              <a:rPr lang="en-US" sz="2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Read the plain text and convert into UTF. Now create a block of plain text named C1.</a:t>
            </a:r>
            <a:endParaRPr lang="en-IN" sz="2400" dirty="0">
              <a:solidFill>
                <a:schemeClr val="tx1"/>
              </a:solidFill>
              <a:effectLst/>
              <a:latin typeface="Times New Roman" panose="02020603050405020304" pitchFamily="18" charset="0"/>
              <a:ea typeface="SimSun" panose="02010600030101010101" pitchFamily="2" charset="-122"/>
              <a:cs typeface="SimSun" panose="02010600030101010101" pitchFamily="2" charset="-122"/>
            </a:endParaRPr>
          </a:p>
          <a:p>
            <a:pPr marL="285750" indent="-285750" algn="just">
              <a:lnSpc>
                <a:spcPct val="115000"/>
              </a:lnSpc>
              <a:spcBef>
                <a:spcPts val="0"/>
              </a:spcBef>
              <a:spcAft>
                <a:spcPts val="800"/>
              </a:spcAft>
              <a:buClrTx/>
              <a:buFont typeface="Arial" panose="020B0604020202020204" pitchFamily="34" charset="0"/>
              <a:buChar char="•"/>
            </a:pPr>
            <a:r>
              <a:rPr lang="en-US" sz="2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Apply initial permutation to C1 with key K4. The output will be cipher text C2.</a:t>
            </a:r>
            <a:endParaRPr lang="en-IN" sz="2400" dirty="0">
              <a:solidFill>
                <a:schemeClr val="tx1"/>
              </a:solidFill>
              <a:effectLst/>
              <a:latin typeface="Times New Roman" panose="02020603050405020304" pitchFamily="18" charset="0"/>
              <a:ea typeface="SimSun" panose="02010600030101010101" pitchFamily="2" charset="-122"/>
              <a:cs typeface="SimSun" panose="02010600030101010101" pitchFamily="2" charset="-122"/>
            </a:endParaRPr>
          </a:p>
          <a:p>
            <a:pPr marL="285750" indent="-285750" algn="just">
              <a:lnSpc>
                <a:spcPct val="115000"/>
              </a:lnSpc>
              <a:spcBef>
                <a:spcPts val="0"/>
              </a:spcBef>
              <a:spcAft>
                <a:spcPts val="800"/>
              </a:spcAft>
              <a:buClrTx/>
              <a:buFont typeface="Arial" panose="020B0604020202020204" pitchFamily="34" charset="0"/>
              <a:buChar char="•"/>
            </a:pPr>
            <a:r>
              <a:rPr lang="en-US" sz="2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Now apply permutation for C2 with K4 and it will be C3.</a:t>
            </a:r>
            <a:endParaRPr lang="en-IN" sz="2400" dirty="0">
              <a:solidFill>
                <a:schemeClr val="tx1"/>
              </a:solidFill>
              <a:effectLst/>
              <a:latin typeface="Times New Roman" panose="02020603050405020304" pitchFamily="18" charset="0"/>
              <a:ea typeface="SimSun" panose="02010600030101010101" pitchFamily="2" charset="-122"/>
              <a:cs typeface="SimSun" panose="02010600030101010101" pitchFamily="2" charset="-122"/>
            </a:endParaRPr>
          </a:p>
          <a:p>
            <a:pPr marL="285750" indent="-285750" algn="just">
              <a:lnSpc>
                <a:spcPct val="115000"/>
              </a:lnSpc>
              <a:spcBef>
                <a:spcPts val="0"/>
              </a:spcBef>
              <a:spcAft>
                <a:spcPts val="800"/>
              </a:spcAft>
              <a:buClrTx/>
              <a:buFont typeface="Arial" panose="020B0604020202020204" pitchFamily="34" charset="0"/>
              <a:buChar char="•"/>
            </a:pPr>
            <a:r>
              <a:rPr lang="en-US" sz="2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Substitute the characters in C3 with color matrix formed (process is discussed above).</a:t>
            </a:r>
            <a:endParaRPr lang="en-IN" sz="2400" dirty="0">
              <a:solidFill>
                <a:schemeClr val="tx1"/>
              </a:solidFill>
              <a:effectLst/>
              <a:latin typeface="Times New Roman" panose="02020603050405020304" pitchFamily="18" charset="0"/>
              <a:ea typeface="SimSun" panose="02010600030101010101" pitchFamily="2" charset="-122"/>
              <a:cs typeface="SimSun" panose="02010600030101010101" pitchFamily="2" charset="-122"/>
            </a:endParaRPr>
          </a:p>
          <a:p>
            <a:pPr marL="285750" indent="-285750" algn="just">
              <a:lnSpc>
                <a:spcPct val="115000"/>
              </a:lnSpc>
              <a:spcBef>
                <a:spcPts val="0"/>
              </a:spcBef>
              <a:spcAft>
                <a:spcPts val="800"/>
              </a:spcAft>
              <a:buClrTx/>
              <a:buFont typeface="Arial" panose="020B0604020202020204" pitchFamily="34" charset="0"/>
              <a:buChar char="•"/>
            </a:pPr>
            <a:r>
              <a:rPr lang="en-US" sz="2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Now cipher text and key can be transmitted to receiver in the form of color blocks by using RSA algorithm</a:t>
            </a:r>
            <a:r>
              <a:rPr lang="en-US"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t>
            </a:r>
          </a:p>
          <a:p>
            <a:pPr marL="0" indent="0" algn="just">
              <a:spcBef>
                <a:spcPts val="0"/>
              </a:spcBef>
              <a:spcAft>
                <a:spcPts val="800"/>
              </a:spcAft>
              <a:buClrTx/>
              <a:buNone/>
            </a:pPr>
            <a:endParaRPr lang="en-US" sz="14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spcBef>
                <a:spcPts val="0"/>
              </a:spcBef>
              <a:spcAft>
                <a:spcPts val="800"/>
              </a:spcAft>
              <a:buClrTx/>
              <a:buFont typeface="Arial" panose="020B0604020202020204" pitchFamily="34" charset="0"/>
              <a:buChar char="•"/>
            </a:pPr>
            <a:endParaRPr lang="en-IN" sz="1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a:spcBef>
                <a:spcPts val="0"/>
              </a:spcBef>
              <a:buClrTx/>
              <a:buFont typeface="Arial" panose="020B0604020202020204" pitchFamily="34" charset="0"/>
              <a:buChar char="•"/>
            </a:pPr>
            <a:endParaRPr lang="en-IN" sz="1400" dirty="0"/>
          </a:p>
        </p:txBody>
      </p:sp>
    </p:spTree>
    <p:extLst>
      <p:ext uri="{BB962C8B-B14F-4D97-AF65-F5344CB8AC3E}">
        <p14:creationId xmlns:p14="http://schemas.microsoft.com/office/powerpoint/2010/main" val="535814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1C58-DF0A-4F6C-BDE5-75E3531B04E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0965CE8-A1F1-45FE-B04C-FE49F83EE951}"/>
              </a:ext>
            </a:extLst>
          </p:cNvPr>
          <p:cNvSpPr>
            <a:spLocks noGrp="1"/>
          </p:cNvSpPr>
          <p:nvPr>
            <p:ph type="body" idx="1"/>
          </p:nvPr>
        </p:nvSpPr>
        <p:spPr>
          <a:xfrm>
            <a:off x="975360" y="721360"/>
            <a:ext cx="10168440" cy="5725707"/>
          </a:xfrm>
        </p:spPr>
        <p:txBody>
          <a:bodyPr/>
          <a:lstStyle/>
          <a:p>
            <a:pPr marL="0" indent="0" algn="just">
              <a:lnSpc>
                <a:spcPct val="115000"/>
              </a:lnSpc>
              <a:spcBef>
                <a:spcPts val="0"/>
              </a:spcBef>
              <a:spcAft>
                <a:spcPts val="800"/>
              </a:spcAft>
              <a:buClrTx/>
              <a:buNone/>
            </a:pPr>
            <a:r>
              <a:rPr lang="en-US" sz="2400" b="1"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DECRYPTION:</a:t>
            </a:r>
          </a:p>
          <a:p>
            <a:pPr marL="285750" indent="-285750" algn="just">
              <a:spcBef>
                <a:spcPts val="0"/>
              </a:spcBef>
              <a:spcAft>
                <a:spcPts val="800"/>
              </a:spcAft>
              <a:buClrTx/>
              <a:buFont typeface="Arial" panose="020B0604020202020204" pitchFamily="34" charset="0"/>
              <a:buChar char="•"/>
            </a:pPr>
            <a:r>
              <a:rPr lang="en-US" sz="24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Receiver gets the encrypted key and decrypts it using receiver private key and sender’s public key.</a:t>
            </a:r>
            <a:endParaRPr lang="en-IN" sz="2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285750" indent="-285750" algn="just">
              <a:spcBef>
                <a:spcPts val="0"/>
              </a:spcBef>
              <a:buClrTx/>
              <a:buFont typeface="Arial" panose="020B0604020202020204" pitchFamily="34" charset="0"/>
              <a:buChar char="•"/>
            </a:pPr>
            <a:r>
              <a:rPr lang="en-US" sz="24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Receiver gets the key after decryption as 32-bit long. Which then can be divided into 4 parts K1(1-15 bits), K2 (16-22 bits), K3(23</a:t>
            </a:r>
            <a:r>
              <a:rPr lang="en-US" sz="24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rd </a:t>
            </a:r>
            <a:r>
              <a:rPr lang="en-US" sz="24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bit), K4(24-32 bits) respectively.</a:t>
            </a:r>
          </a:p>
          <a:p>
            <a:pPr marL="285750" indent="-285750" algn="just">
              <a:spcBef>
                <a:spcPts val="0"/>
              </a:spcBef>
              <a:buClrTx/>
              <a:buFont typeface="Arial" panose="020B0604020202020204" pitchFamily="34" charset="0"/>
              <a:buChar char="•"/>
            </a:pPr>
            <a:endParaRPr lang="en-IN" sz="2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285750" indent="-285750" algn="just">
              <a:spcBef>
                <a:spcPts val="0"/>
              </a:spcBef>
              <a:buClrTx/>
              <a:buFont typeface="Arial" panose="020B0604020202020204" pitchFamily="34" charset="0"/>
              <a:buChar char="•"/>
            </a:pPr>
            <a:r>
              <a:rPr lang="en-US" sz="24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Now from character matrix color blocks can be substituted and C3 can be found.</a:t>
            </a:r>
          </a:p>
          <a:p>
            <a:pPr marL="285750" indent="-285750" algn="just">
              <a:spcBef>
                <a:spcPts val="0"/>
              </a:spcBef>
              <a:buClrTx/>
              <a:buFont typeface="Arial" panose="020B0604020202020204" pitchFamily="34" charset="0"/>
              <a:buChar char="•"/>
            </a:pPr>
            <a:endParaRPr lang="en-IN" sz="2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285750" indent="-285750" algn="just">
              <a:spcBef>
                <a:spcPts val="0"/>
              </a:spcBef>
              <a:buClrTx/>
              <a:buFont typeface="Arial" panose="020B0604020202020204" pitchFamily="34" charset="0"/>
              <a:buChar char="•"/>
            </a:pPr>
            <a:r>
              <a:rPr lang="en-US" sz="24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Use K4 in the same matrix and find out C2.</a:t>
            </a:r>
          </a:p>
          <a:p>
            <a:pPr marL="285750" indent="-285750" algn="just">
              <a:spcBef>
                <a:spcPts val="0"/>
              </a:spcBef>
              <a:buClrTx/>
              <a:buFont typeface="Arial" panose="020B0604020202020204" pitchFamily="34" charset="0"/>
              <a:buChar char="•"/>
            </a:pPr>
            <a:endParaRPr lang="en-IN" sz="2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285750" indent="-285750" algn="just">
              <a:spcBef>
                <a:spcPts val="0"/>
              </a:spcBef>
              <a:spcAft>
                <a:spcPts val="800"/>
              </a:spcAft>
              <a:buClrTx/>
              <a:buFont typeface="Arial" panose="020B0604020202020204" pitchFamily="34" charset="0"/>
              <a:buChar char="•"/>
            </a:pPr>
            <a:r>
              <a:rPr lang="en-US" sz="24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Similar to reverse encryption, apply K4 to C2 which gives C1.</a:t>
            </a:r>
          </a:p>
          <a:p>
            <a:pPr marL="285750" indent="-285750" algn="just">
              <a:spcBef>
                <a:spcPts val="0"/>
              </a:spcBef>
              <a:spcAft>
                <a:spcPts val="800"/>
              </a:spcAft>
              <a:buClrTx/>
              <a:buFont typeface="Arial" panose="020B0604020202020204" pitchFamily="34" charset="0"/>
              <a:buChar char="•"/>
            </a:pPr>
            <a:r>
              <a:rPr lang="en-US" sz="24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C1 is in the form UTF and is converted to plain text.</a:t>
            </a:r>
            <a:endParaRPr lang="en-IN" sz="2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endParaRPr lang="en-IN" sz="2400" dirty="0"/>
          </a:p>
        </p:txBody>
      </p:sp>
    </p:spTree>
    <p:extLst>
      <p:ext uri="{BB962C8B-B14F-4D97-AF65-F5344CB8AC3E}">
        <p14:creationId xmlns:p14="http://schemas.microsoft.com/office/powerpoint/2010/main" val="3789744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EEBD2-515E-4C65-9FCF-B2266ED9C45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A224F97-12FC-4330-9F22-F63B3CBB2D70}"/>
              </a:ext>
            </a:extLst>
          </p:cNvPr>
          <p:cNvSpPr>
            <a:spLocks noGrp="1"/>
          </p:cNvSpPr>
          <p:nvPr>
            <p:ph type="body" idx="1"/>
          </p:nvPr>
        </p:nvSpPr>
        <p:spPr/>
        <p:txBody>
          <a:bodyPr/>
          <a:lstStyle/>
          <a:p>
            <a:endParaRPr lang="en-IN" dirty="0"/>
          </a:p>
        </p:txBody>
      </p:sp>
      <p:pic>
        <p:nvPicPr>
          <p:cNvPr id="4" name="Picture 3">
            <a:extLst>
              <a:ext uri="{FF2B5EF4-FFF2-40B4-BE49-F238E27FC236}">
                <a16:creationId xmlns:a16="http://schemas.microsoft.com/office/drawing/2014/main" id="{1C2544C0-C9CD-4DF3-ACA4-621DB727A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1744" y="1470057"/>
            <a:ext cx="5617774" cy="4688147"/>
          </a:xfrm>
          <a:prstGeom prst="rect">
            <a:avLst/>
          </a:prstGeom>
        </p:spPr>
      </p:pic>
    </p:spTree>
    <p:extLst>
      <p:ext uri="{BB962C8B-B14F-4D97-AF65-F5344CB8AC3E}">
        <p14:creationId xmlns:p14="http://schemas.microsoft.com/office/powerpoint/2010/main" val="1923054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0047F-6A8F-452D-99AC-EDD1A284155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6DD600B-06F0-402E-961E-F88A8A33DF2F}"/>
              </a:ext>
            </a:extLst>
          </p:cNvPr>
          <p:cNvSpPr>
            <a:spLocks noGrp="1"/>
          </p:cNvSpPr>
          <p:nvPr>
            <p:ph type="body" idx="1"/>
          </p:nvPr>
        </p:nvSpPr>
        <p:spPr/>
        <p:txBody>
          <a:bodyPr/>
          <a:lstStyle/>
          <a:p>
            <a:pPr marL="101598" indent="0">
              <a:buNone/>
            </a:pPr>
            <a:endParaRPr lang="en-IN" dirty="0"/>
          </a:p>
        </p:txBody>
      </p:sp>
      <p:pic>
        <p:nvPicPr>
          <p:cNvPr id="4" name="Picture 3">
            <a:extLst>
              <a:ext uri="{FF2B5EF4-FFF2-40B4-BE49-F238E27FC236}">
                <a16:creationId xmlns:a16="http://schemas.microsoft.com/office/drawing/2014/main" id="{9C5DBC6B-7BEA-4BBE-9873-E586F83926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7941" y="1837395"/>
            <a:ext cx="7157059" cy="3183209"/>
          </a:xfrm>
          <a:prstGeom prst="rect">
            <a:avLst/>
          </a:prstGeom>
        </p:spPr>
      </p:pic>
    </p:spTree>
    <p:extLst>
      <p:ext uri="{BB962C8B-B14F-4D97-AF65-F5344CB8AC3E}">
        <p14:creationId xmlns:p14="http://schemas.microsoft.com/office/powerpoint/2010/main" val="1132442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D91F-AF47-4503-96F9-5A8EC651910C}"/>
              </a:ext>
            </a:extLst>
          </p:cNvPr>
          <p:cNvSpPr>
            <a:spLocks noGrp="1"/>
          </p:cNvSpPr>
          <p:nvPr>
            <p:ph type="title"/>
          </p:nvPr>
        </p:nvSpPr>
        <p:spPr/>
        <p:txBody>
          <a:bodyPr/>
          <a:lstStyle/>
          <a:p>
            <a:r>
              <a:rPr lang="en-US" dirty="0"/>
              <a:t>EXAMPLE</a:t>
            </a:r>
            <a:endParaRPr lang="en-IN" dirty="0"/>
          </a:p>
        </p:txBody>
      </p:sp>
      <p:sp>
        <p:nvSpPr>
          <p:cNvPr id="3" name="Text Placeholder 2">
            <a:extLst>
              <a:ext uri="{FF2B5EF4-FFF2-40B4-BE49-F238E27FC236}">
                <a16:creationId xmlns:a16="http://schemas.microsoft.com/office/drawing/2014/main" id="{107C9952-968E-47B8-ACA1-D7556D54DBB6}"/>
              </a:ext>
            </a:extLst>
          </p:cNvPr>
          <p:cNvSpPr>
            <a:spLocks noGrp="1"/>
          </p:cNvSpPr>
          <p:nvPr>
            <p:ph type="body" idx="1"/>
          </p:nvPr>
        </p:nvSpPr>
        <p:spPr>
          <a:xfrm>
            <a:off x="373224" y="1347627"/>
            <a:ext cx="10770576" cy="5099440"/>
          </a:xfrm>
        </p:spPr>
        <p:txBody>
          <a:bodyPr/>
          <a:lstStyle/>
          <a:p>
            <a:pPr marL="101598" indent="0" algn="just">
              <a:spcAft>
                <a:spcPts val="800"/>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Alice and Bob share one of the 16 million colors as secret key which they use to encrypt and decrypt messages which is used for both encryption and decryption. Now, we use a substitution cipher technique and replace colors with characters based on character matrix.</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101598" indent="0" algn="just">
              <a:spcAft>
                <a:spcPts val="800"/>
              </a:spcAft>
              <a:buNone/>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encrypt a letter into a color:</a:t>
            </a:r>
            <a:endParaRPr lang="en-IN" sz="18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indent="-342900" algn="just">
              <a:spcAft>
                <a:spcPts val="800"/>
              </a:spcAft>
              <a:buFont typeface="+mj-lt"/>
              <a:buAutoNum type="arabicPeriod"/>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first convert the letter to a number between 0 and 25, where 'a' is 0, 'b' is 1, and so on. </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indent="-342900" algn="just">
              <a:spcAft>
                <a:spcPts val="800"/>
              </a:spcAft>
              <a:buFont typeface="+mj-lt"/>
              <a:buAutoNum type="arabicPeriod"/>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Then add all the colors. Now multiply sum with scaling factor. For example, our scaling factor is the color ORANGE. </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101598" indent="0" algn="just">
              <a:buNone/>
            </a:pPr>
            <a:r>
              <a:rPr lang="en-US" sz="1800" dirty="0">
                <a:solidFill>
                  <a:srgbClr val="000000"/>
                </a:solidFill>
                <a:effectLst/>
                <a:latin typeface="Times New Roman" panose="02020603050405020304" pitchFamily="18" charset="0"/>
                <a:ea typeface="Times New Roman" panose="02020603050405020304" pitchFamily="18" charset="0"/>
              </a:rPr>
              <a:t>In App Inventor blocks, here is how a letter is encrypted, where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where</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letternum</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is the letter's number (0 to 25) and both key and scaling factor are colors:</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101598" indent="0">
              <a:buNone/>
            </a:pPr>
            <a:endParaRPr lang="en-IN" dirty="0"/>
          </a:p>
        </p:txBody>
      </p:sp>
      <p:pic>
        <p:nvPicPr>
          <p:cNvPr id="4" name="Picture 3">
            <a:hlinkClick r:id="rId3"/>
            <a:extLst>
              <a:ext uri="{FF2B5EF4-FFF2-40B4-BE49-F238E27FC236}">
                <a16:creationId xmlns:a16="http://schemas.microsoft.com/office/drawing/2014/main" id="{EE743837-3BFC-4BAE-9215-8F1E508C68A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07460" y="5190333"/>
            <a:ext cx="5151120" cy="640080"/>
          </a:xfrm>
          <a:prstGeom prst="rect">
            <a:avLst/>
          </a:prstGeom>
          <a:noFill/>
          <a:ln>
            <a:noFill/>
          </a:ln>
        </p:spPr>
      </p:pic>
    </p:spTree>
    <p:extLst>
      <p:ext uri="{BB962C8B-B14F-4D97-AF65-F5344CB8AC3E}">
        <p14:creationId xmlns:p14="http://schemas.microsoft.com/office/powerpoint/2010/main" val="3072809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8EF4-0814-4CD7-A3EC-EB97C92D1F3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6267D11-B4E5-4530-9264-73B93FC19F97}"/>
              </a:ext>
            </a:extLst>
          </p:cNvPr>
          <p:cNvSpPr>
            <a:spLocks noGrp="1"/>
          </p:cNvSpPr>
          <p:nvPr>
            <p:ph type="body" idx="1"/>
          </p:nvPr>
        </p:nvSpPr>
        <p:spPr>
          <a:xfrm>
            <a:off x="494522" y="1347627"/>
            <a:ext cx="10649278" cy="5099440"/>
          </a:xfrm>
        </p:spPr>
        <p:txBody>
          <a:bodyPr/>
          <a:lstStyle/>
          <a:p>
            <a:pPr marL="101598" indent="0" algn="just">
              <a:lnSpc>
                <a:spcPct val="150000"/>
              </a:lnSpc>
              <a:spcAft>
                <a:spcPts val="800"/>
              </a:spcAft>
              <a:buNone/>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decrypt a color into a letter, we perform the encrypt operations in reverse:</a:t>
            </a:r>
            <a:endParaRPr lang="en-IN" sz="18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indent="-342900" algn="just">
              <a:lnSpc>
                <a:spcPct val="150000"/>
              </a:lnSpc>
              <a:buFont typeface="+mj-lt"/>
              <a:buAutoNum type="arabicPeriod"/>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first subtract the key from the color.</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indent="-342900" algn="just">
              <a:lnSpc>
                <a:spcPct val="150000"/>
              </a:lnSpc>
              <a:spcAft>
                <a:spcPts val="800"/>
              </a:spcAft>
              <a:buFont typeface="+mj-lt"/>
              <a:buAutoNum type="arabicPeriod"/>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then divide the result by the scaling factor. This will give us a number between 0 and 25, which we then translate back into a letter between 'a' and 'z'.</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101598" indent="0" algn="just">
              <a:lnSpc>
                <a:spcPct val="150000"/>
              </a:lnSpc>
              <a:spcAft>
                <a:spcPts val="800"/>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App Inventor blocks, here is how a letter is encrypted, where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colorNum</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is color encryption of the letter and key1, and scaling factor are both colors:</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101598" indent="0">
              <a:buNone/>
            </a:pPr>
            <a:endParaRPr lang="en-IN" dirty="0"/>
          </a:p>
        </p:txBody>
      </p:sp>
      <p:pic>
        <p:nvPicPr>
          <p:cNvPr id="7" name="Picture 6">
            <a:hlinkClick r:id="rId2"/>
            <a:extLst>
              <a:ext uri="{FF2B5EF4-FFF2-40B4-BE49-F238E27FC236}">
                <a16:creationId xmlns:a16="http://schemas.microsoft.com/office/drawing/2014/main" id="{0AD5FAA1-6BFF-45F1-B9AD-D68484C5ECB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81655" y="4816953"/>
            <a:ext cx="5143500" cy="693420"/>
          </a:xfrm>
          <a:prstGeom prst="rect">
            <a:avLst/>
          </a:prstGeom>
          <a:noFill/>
          <a:ln>
            <a:noFill/>
          </a:ln>
        </p:spPr>
      </p:pic>
    </p:spTree>
    <p:extLst>
      <p:ext uri="{BB962C8B-B14F-4D97-AF65-F5344CB8AC3E}">
        <p14:creationId xmlns:p14="http://schemas.microsoft.com/office/powerpoint/2010/main" val="3878863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E1DCE-D629-421A-AFB0-AB854A8076DF}"/>
              </a:ext>
            </a:extLst>
          </p:cNvPr>
          <p:cNvSpPr>
            <a:spLocks noGrp="1"/>
          </p:cNvSpPr>
          <p:nvPr>
            <p:ph type="title"/>
          </p:nvPr>
        </p:nvSpPr>
        <p:spPr/>
        <p:txBody>
          <a:bodyPr/>
          <a:lstStyle/>
          <a:p>
            <a:r>
              <a:rPr lang="en-US" sz="2400" dirty="0">
                <a:solidFill>
                  <a:srgbClr val="4F81BD"/>
                </a:solidFill>
                <a:effectLst/>
                <a:latin typeface="Times New Roman" panose="02020603050405020304" pitchFamily="18" charset="0"/>
                <a:ea typeface="SimSun" panose="02010600030101010101" pitchFamily="2" charset="-122"/>
                <a:cs typeface="Times New Roman" panose="02020603050405020304" pitchFamily="18" charset="0"/>
              </a:rPr>
              <a:t>CRYPTANALYSIS</a:t>
            </a:r>
            <a:br>
              <a:rPr lang="en-IN" sz="20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br>
            <a:endParaRPr lang="en-IN" dirty="0"/>
          </a:p>
        </p:txBody>
      </p:sp>
      <p:sp>
        <p:nvSpPr>
          <p:cNvPr id="3" name="Text Placeholder 2">
            <a:extLst>
              <a:ext uri="{FF2B5EF4-FFF2-40B4-BE49-F238E27FC236}">
                <a16:creationId xmlns:a16="http://schemas.microsoft.com/office/drawing/2014/main" id="{D59103DA-E600-4933-94C5-DABDEDA19373}"/>
              </a:ext>
            </a:extLst>
          </p:cNvPr>
          <p:cNvSpPr>
            <a:spLocks noGrp="1"/>
          </p:cNvSpPr>
          <p:nvPr>
            <p:ph type="body" idx="1"/>
          </p:nvPr>
        </p:nvSpPr>
        <p:spPr>
          <a:xfrm>
            <a:off x="858416" y="1530220"/>
            <a:ext cx="10285384" cy="4916847"/>
          </a:xfrm>
        </p:spPr>
        <p:txBody>
          <a:bodyPr/>
          <a:lstStyle/>
          <a:p>
            <a:pPr marL="342900" lvl="0" indent="-342900" algn="just">
              <a:lnSpc>
                <a:spcPct val="115000"/>
              </a:lnSpc>
              <a:buClrTx/>
              <a:buFont typeface="Arial" panose="020B0604020202020204" pitchFamily="34" charset="0"/>
              <a:buChar char="•"/>
            </a:pP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In English, we have ten numbers and 26 characters so we will get key of 26</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32 </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that have 1.9*10</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45 </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permutations when we perform one encryption per second it will take 6*10</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35 </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years to do an attack. Whereas, for ten numbers we will get key 10</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32</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when executed one encryption per microsecond 3.1*1029 years to do an attack.</a:t>
            </a:r>
            <a:endParaRPr lang="en-IN" sz="20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lvl="0" indent="-342900" algn="just">
              <a:lnSpc>
                <a:spcPct val="115000"/>
              </a:lnSpc>
              <a:buClrTx/>
              <a:buFont typeface="Arial" panose="020B0604020202020204" pitchFamily="34" charset="0"/>
              <a:buChar char="•"/>
            </a:pP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We transmit key of 23 bit using RSA algorithm it’s key length is 92 bits and key space is 2</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92</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=5.0*10</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27</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key. When one value is done for 10</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seconds then time required for key space is 1585*10</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14</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years. If we perform one encryption per micro second it takes 2.4*10</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16 </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years and for 10</a:t>
            </a:r>
            <a:r>
              <a:rPr lang="en-US" sz="2000" baseline="30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6 </a:t>
            </a: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years it takes 1842.6 years.</a:t>
            </a:r>
          </a:p>
          <a:p>
            <a:pPr marL="342900" lvl="0" indent="-342900" algn="just">
              <a:lnSpc>
                <a:spcPct val="115000"/>
              </a:lnSpc>
              <a:buClrTx/>
              <a:buFont typeface="Arial" panose="020B0604020202020204" pitchFamily="34" charset="0"/>
              <a:buChar char="•"/>
            </a:pP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When we apply these two logics for 18 decillion number of colors it is impossible for anyone to perform Brute force attack or Man-in-Middle attack.</a:t>
            </a:r>
            <a:endParaRPr lang="en-IN" sz="20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endParaRPr lang="en-IN" dirty="0"/>
          </a:p>
        </p:txBody>
      </p:sp>
    </p:spTree>
    <p:extLst>
      <p:ext uri="{BB962C8B-B14F-4D97-AF65-F5344CB8AC3E}">
        <p14:creationId xmlns:p14="http://schemas.microsoft.com/office/powerpoint/2010/main" val="863002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F171B-6972-41B6-90FB-BF2CB705E362}"/>
              </a:ext>
            </a:extLst>
          </p:cNvPr>
          <p:cNvSpPr>
            <a:spLocks noGrp="1"/>
          </p:cNvSpPr>
          <p:nvPr>
            <p:ph type="title"/>
          </p:nvPr>
        </p:nvSpPr>
        <p:spPr/>
        <p:txBody>
          <a:bodyPr/>
          <a:lstStyle/>
          <a:p>
            <a:pPr algn="just"/>
            <a:r>
              <a:rPr lang="en-US" sz="2400" dirty="0">
                <a:latin typeface="Times New Roman" panose="02020603050405020304" pitchFamily="18" charset="0"/>
                <a:cs typeface="Times New Roman" panose="02020603050405020304" pitchFamily="18" charset="0"/>
              </a:rPr>
              <a:t>ADVANTAGES &amp; DISADVANTAGES</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1CF71FD-7DDC-4D7D-B4E8-4CC4C89EB9C1}"/>
              </a:ext>
            </a:extLst>
          </p:cNvPr>
          <p:cNvSpPr>
            <a:spLocks noGrp="1"/>
          </p:cNvSpPr>
          <p:nvPr>
            <p:ph type="body" idx="1"/>
          </p:nvPr>
        </p:nvSpPr>
        <p:spPr/>
        <p:txBody>
          <a:bodyPr/>
          <a:lstStyle/>
          <a:p>
            <a:pPr marL="101598" indent="0">
              <a:buNone/>
            </a:pPr>
            <a:endParaRPr lang="en-IN" dirty="0"/>
          </a:p>
        </p:txBody>
      </p:sp>
      <p:sp>
        <p:nvSpPr>
          <p:cNvPr id="5" name="TextBox 4">
            <a:extLst>
              <a:ext uri="{FF2B5EF4-FFF2-40B4-BE49-F238E27FC236}">
                <a16:creationId xmlns:a16="http://schemas.microsoft.com/office/drawing/2014/main" id="{8261E54D-234B-4561-82C7-C0225B1FA117}"/>
              </a:ext>
            </a:extLst>
          </p:cNvPr>
          <p:cNvSpPr txBox="1"/>
          <p:nvPr/>
        </p:nvSpPr>
        <p:spPr>
          <a:xfrm>
            <a:off x="1259633" y="1858474"/>
            <a:ext cx="7886699" cy="3383106"/>
          </a:xfrm>
          <a:prstGeom prst="rect">
            <a:avLst/>
          </a:prstGeom>
          <a:noFill/>
        </p:spPr>
        <p:txBody>
          <a:bodyPr wrap="square">
            <a:spAutoFit/>
          </a:bodyPr>
          <a:lstStyle/>
          <a:p>
            <a:pPr algn="just">
              <a:lnSpc>
                <a:spcPct val="115000"/>
              </a:lnSpc>
              <a:spcAft>
                <a:spcPts val="800"/>
              </a:spcAft>
            </a:pPr>
            <a:r>
              <a:rPr lang="en-US" sz="2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Advantages:</a:t>
            </a:r>
            <a:endParaRPr lang="en-IN" sz="2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lvl="0" indent="-342900" algn="just">
              <a:lnSpc>
                <a:spcPct val="115000"/>
              </a:lnSpc>
              <a:buFont typeface="Symbol" panose="05050102010706020507" pitchFamily="18" charset="2"/>
              <a:buChar char=""/>
            </a:pPr>
            <a:r>
              <a:rPr lang="en-US" sz="1800" dirty="0">
                <a:solidFill>
                  <a:srgbClr val="202124"/>
                </a:solidFill>
                <a:effectLst/>
                <a:latin typeface="Times New Roman" panose="02020603050405020304" pitchFamily="18" charset="0"/>
                <a:ea typeface="SimSun" panose="02010600030101010101" pitchFamily="2" charset="-122"/>
                <a:cs typeface="Times New Roman" panose="02020603050405020304" pitchFamily="18" charset="0"/>
              </a:rPr>
              <a:t>It is very easy to implement and is safe and secure for transmitting confidential data.</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lvl="0" indent="-342900" algn="just">
              <a:lnSpc>
                <a:spcPct val="115000"/>
              </a:lnSpc>
              <a:buFont typeface="Symbol" panose="05050102010706020507" pitchFamily="18" charset="2"/>
              <a:buChar char=""/>
            </a:pPr>
            <a:r>
              <a:rPr lang="en-US" sz="1800" dirty="0">
                <a:solidFill>
                  <a:srgbClr val="202124"/>
                </a:solidFill>
                <a:effectLst/>
                <a:latin typeface="Times New Roman" panose="02020603050405020304" pitchFamily="18" charset="0"/>
                <a:ea typeface="SimSun" panose="02010600030101010101" pitchFamily="2" charset="-122"/>
                <a:cs typeface="Times New Roman" panose="02020603050405020304" pitchFamily="18" charset="0"/>
              </a:rPr>
              <a:t>Bulk data capacity and high correlation among pixels can be done easily.</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lvl="0" indent="-342900" algn="just">
              <a:lnSpc>
                <a:spcPct val="115000"/>
              </a:lnSpc>
              <a:buFont typeface="Symbol" panose="05050102010706020507" pitchFamily="18" charset="2"/>
              <a:buChar char=""/>
            </a:pPr>
            <a:r>
              <a:rPr lang="en-US" sz="1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Transportation cost through this channel is very low and speed is very fas</a:t>
            </a:r>
            <a:r>
              <a:rPr lang="en-US" sz="14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t.</a:t>
            </a:r>
            <a:endParaRPr lang="en-IN" sz="1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457200" algn="just">
              <a:lnSpc>
                <a:spcPct val="115000"/>
              </a:lnSpc>
              <a:spcAft>
                <a:spcPts val="800"/>
              </a:spcAft>
            </a:pPr>
            <a:r>
              <a:rPr lang="en-US"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endParaRPr lang="en-IN" sz="1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algn="just">
              <a:lnSpc>
                <a:spcPct val="115000"/>
              </a:lnSpc>
              <a:spcAft>
                <a:spcPts val="800"/>
              </a:spcAft>
            </a:pPr>
            <a:r>
              <a:rPr lang="en-US" sz="2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Disadvantages:</a:t>
            </a:r>
            <a:endParaRPr lang="en-IN" sz="24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lvl="0" indent="-342900" algn="just">
              <a:lnSpc>
                <a:spcPct val="115000"/>
              </a:lnSpc>
              <a:buFont typeface="Symbol" panose="05050102010706020507" pitchFamily="18" charset="2"/>
              <a:buChar char=""/>
            </a:pPr>
            <a:r>
              <a:rPr lang="en-US" sz="1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not much reliable</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342900" lvl="0" indent="-342900" algn="just">
              <a:lnSpc>
                <a:spcPct val="115000"/>
              </a:lnSpc>
              <a:spcAft>
                <a:spcPts val="800"/>
              </a:spcAft>
              <a:buFont typeface="Symbol" panose="05050102010706020507" pitchFamily="18" charset="2"/>
              <a:buChar char=""/>
            </a:pPr>
            <a:r>
              <a:rPr lang="en-US" sz="1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takes more time</a:t>
            </a:r>
            <a:endParaRPr lang="en-IN" sz="18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p:txBody>
      </p:sp>
    </p:spTree>
    <p:extLst>
      <p:ext uri="{BB962C8B-B14F-4D97-AF65-F5344CB8AC3E}">
        <p14:creationId xmlns:p14="http://schemas.microsoft.com/office/powerpoint/2010/main" val="1269124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2EFD-DA3D-47E6-AD6A-40427325FF9E}"/>
              </a:ext>
            </a:extLst>
          </p:cNvPr>
          <p:cNvSpPr>
            <a:spLocks noGrp="1"/>
          </p:cNvSpPr>
          <p:nvPr>
            <p:ph type="title"/>
          </p:nvPr>
        </p:nvSpPr>
        <p:spPr>
          <a:xfrm>
            <a:off x="1048200" y="401496"/>
            <a:ext cx="10095600" cy="936800"/>
          </a:xfrm>
        </p:spPr>
        <p:txBody>
          <a:bodyPr/>
          <a:lstStyle/>
          <a:p>
            <a:r>
              <a:rPr lang="en-US" sz="2400" dirty="0">
                <a:latin typeface="Times New Roman" panose="02020603050405020304" pitchFamily="18" charset="0"/>
                <a:cs typeface="Times New Roman" panose="02020603050405020304" pitchFamily="18" charset="0"/>
              </a:rPr>
              <a:t>CONCLUSION</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0623AB2-0768-4014-8C9F-06F984885449}"/>
              </a:ext>
            </a:extLst>
          </p:cNvPr>
          <p:cNvSpPr>
            <a:spLocks noGrp="1"/>
          </p:cNvSpPr>
          <p:nvPr>
            <p:ph type="body" idx="1"/>
          </p:nvPr>
        </p:nvSpPr>
        <p:spPr>
          <a:xfrm>
            <a:off x="811763" y="1682267"/>
            <a:ext cx="10332037" cy="4764800"/>
          </a:xfrm>
        </p:spPr>
        <p:txBody>
          <a:bodyPr/>
          <a:lstStyle/>
          <a:p>
            <a:pPr indent="0" algn="just">
              <a:lnSpc>
                <a:spcPct val="150000"/>
              </a:lnSpc>
              <a:spcAft>
                <a:spcPts val="800"/>
              </a:spcAft>
              <a:buNone/>
            </a:pP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We developed a play color cipher using substituting technique where we used RSA algorithm for key transmission to transfer information securely. We used RSA algorithm in order to provide more security for secret key transmission due to its maximum no. of permutations. We use a 32-bit long key for encryption and decryption process. In the beginning we convert plain text to UTF file as any kind of programming language can be used and UTF provides a better and faster algorithm than RTF.</a:t>
            </a:r>
            <a:endParaRPr lang="en-IN" sz="20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indent="0" algn="just">
              <a:lnSpc>
                <a:spcPct val="150000"/>
              </a:lnSpc>
              <a:spcAft>
                <a:spcPts val="800"/>
              </a:spcAft>
              <a:buNone/>
            </a:pPr>
            <a:r>
              <a:rPr lang="en-US" sz="20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This method also prevents Brute force attacks, Birthday attacks and many other which can be proved by performing cryptanalysis. A stronger cipher using 18 Decillion colors and their enormous permutations of color combinations is built. It also takes some decades to crack such kind of cipher.</a:t>
            </a:r>
            <a:endParaRPr lang="en-IN" sz="20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endParaRPr>
          </a:p>
          <a:p>
            <a:pPr marL="101598" indent="0">
              <a:buNone/>
            </a:pPr>
            <a:endParaRPr lang="en-IN" sz="3600" dirty="0"/>
          </a:p>
        </p:txBody>
      </p:sp>
    </p:spTree>
    <p:extLst>
      <p:ext uri="{BB962C8B-B14F-4D97-AF65-F5344CB8AC3E}">
        <p14:creationId xmlns:p14="http://schemas.microsoft.com/office/powerpoint/2010/main" val="1279115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0525-9630-4A64-A3C3-A8311FE38DE5}"/>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REFERENCES</a:t>
            </a:r>
            <a:endParaRPr lang="en-IN" sz="2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03A8AD3C-F826-46EE-931A-43FA8CA9513D}"/>
              </a:ext>
            </a:extLst>
          </p:cNvPr>
          <p:cNvSpPr>
            <a:spLocks noGrp="1" noChangeArrowheads="1"/>
          </p:cNvSpPr>
          <p:nvPr>
            <p:ph type="body" idx="1"/>
          </p:nvPr>
        </p:nvSpPr>
        <p:spPr bwMode="auto">
          <a:xfrm>
            <a:off x="670249" y="1347627"/>
            <a:ext cx="10851502"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285750" indent="-285750" algn="just">
              <a:buClrTx/>
              <a:buSzTx/>
              <a:buFont typeface="Arial" panose="020B0604020202020204" pitchFamily="34" charset="0"/>
              <a:buChar char="•"/>
            </a:pP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Andrey Bogdanov, D. K. (2011). Biclique Cryptanalysis of the Full AES. </a:t>
            </a:r>
            <a:r>
              <a:rPr kumimoji="0" lang="en-US" altLang="en-US" sz="1800" b="0" i="1"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Crypto 2011 cryptology conference.</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Santa Barbara, California.</a:t>
            </a:r>
          </a:p>
          <a:p>
            <a:pPr marL="285750" indent="-285750" algn="just">
              <a:buClrTx/>
              <a:buSzTx/>
              <a:buFont typeface="Arial" panose="020B0604020202020204" pitchFamily="34" charset="0"/>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buClrTx/>
              <a:buSzTx/>
              <a:buFont typeface="Arial" panose="020B0604020202020204" pitchFamily="34" charset="0"/>
              <a:buChar char="•"/>
            </a:pP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Dinesh Sharma, R. P. (2017). </a:t>
            </a:r>
            <a:r>
              <a:rPr kumimoji="0" lang="en-US" altLang="en-US" sz="1800" b="0" i="0" u="none" strike="noStrike" cap="none" normalizeH="0" baseline="0" dirty="0" err="1">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Colour</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Based Cryptography. </a:t>
            </a:r>
            <a:r>
              <a:rPr kumimoji="0" lang="en-US" altLang="en-US" sz="1800" b="0" i="1"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International Research Journal of Engineering &amp; Technology</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buClrTx/>
              <a:buSzTx/>
              <a:buFont typeface="Arial" panose="020B0604020202020204" pitchFamily="34" charset="0"/>
              <a:buChar char="•"/>
            </a:pPr>
            <a:endPar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buClrTx/>
              <a:buSzTx/>
              <a:buFont typeface="Arial" panose="020B0604020202020204" pitchFamily="34" charset="0"/>
              <a:buChar char="•"/>
            </a:pPr>
            <a:r>
              <a:rPr kumimoji="0" lang="en-US" altLang="en-US" sz="1800" b="0" i="0" u="none" strike="noStrike" cap="none" normalizeH="0" baseline="0" dirty="0" err="1">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gaitonde</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 (2012). Color Coded Cryptography. </a:t>
            </a:r>
            <a:r>
              <a:rPr kumimoji="0" lang="en-US" altLang="en-US" sz="1800" b="0" i="1"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International Journal of Scientific &amp; Engineering Research</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Volume-3, Issue-7.</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buClrTx/>
              <a:buSzTx/>
              <a:buFont typeface="Arial" panose="020B0604020202020204" pitchFamily="34" charset="0"/>
              <a:buChar char="•"/>
            </a:pPr>
            <a:endPar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buClrTx/>
              <a:buSzTx/>
              <a:buFont typeface="Arial" panose="020B0604020202020204" pitchFamily="34" charset="0"/>
              <a:buChar char="•"/>
            </a:pPr>
            <a:r>
              <a:rPr kumimoji="0" lang="en-US" altLang="en-US" sz="1800" b="0" i="0" u="none" strike="noStrike" cap="none" normalizeH="0" baseline="0" dirty="0" err="1">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Pritha</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r>
              <a:rPr kumimoji="0" lang="en-US" altLang="en-US" sz="1800" b="0" i="0" u="none" strike="noStrike" cap="none" normalizeH="0" baseline="0" dirty="0" err="1">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Johar</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S. E. (2012). A Novel Approach to Substitution Play Color Cipher. </a:t>
            </a:r>
            <a:r>
              <a:rPr kumimoji="0" lang="en-US" altLang="en-US" sz="1800" b="0" i="1"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International Journal of Next Generation Computer Application</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Volume1.</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buClrTx/>
              <a:buSzTx/>
              <a:buFont typeface="Arial" panose="020B0604020202020204" pitchFamily="34" charset="0"/>
              <a:buChar char="•"/>
            </a:pPr>
            <a:endPar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buClrTx/>
              <a:buSzTx/>
              <a:buFont typeface="Arial" panose="020B0604020202020204" pitchFamily="34" charset="0"/>
              <a:buChar char="•"/>
            </a:pP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Prof. K. Ravindra, D. K. (2010). A block cipher generation using color substitution. </a:t>
            </a:r>
            <a:r>
              <a:rPr kumimoji="0" lang="en-US" altLang="en-US" sz="1800" b="0" i="1"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International Journal of Computer Applications</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(p. Volume1).</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buClrTx/>
              <a:buSzTx/>
              <a:buFont typeface="Arial" panose="020B0604020202020204" pitchFamily="34" charset="0"/>
              <a:buChar char="•"/>
            </a:pPr>
            <a:endPar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buClrTx/>
              <a:buSzTx/>
              <a:buFont typeface="Arial" panose="020B0604020202020204" pitchFamily="34" charset="0"/>
              <a:buChar char="•"/>
            </a:pP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Sastry V.U.K, S. U. (2006). A large block cipher using modular arithmetic inverse of a key matrix and mixing of the key matrix and the plain text. </a:t>
            </a:r>
            <a:r>
              <a:rPr kumimoji="0" lang="en-US" altLang="en-US" sz="1800" b="0" i="1"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Journal of Computer Science.</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buClrTx/>
              <a:buSzTx/>
              <a:buFont typeface="Arial" panose="020B0604020202020204" pitchFamily="34" charset="0"/>
              <a:buChar char="•"/>
            </a:pPr>
            <a:endPar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buClrTx/>
              <a:buSzTx/>
              <a:buFont typeface="Arial" panose="020B0604020202020204" pitchFamily="34" charset="0"/>
              <a:buChar char="•"/>
            </a:pP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Stallings, W. (2008). </a:t>
            </a:r>
            <a:r>
              <a:rPr kumimoji="0" lang="en-US" altLang="en-US" sz="1800" b="0" i="1"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Cryptography and Network Security, principle and Practice, 5th edition.</a:t>
            </a:r>
            <a:r>
              <a:rPr kumimoji="0" lang="en-US" altLang="en-US" sz="18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buClrTx/>
              <a:buSzTx/>
              <a:buFont typeface="Arial" panose="020B0604020202020204" pitchFamily="34" charset="0"/>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9748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7C6285-18D0-4893-9DA0-ACADB55BE994}"/>
              </a:ext>
            </a:extLst>
          </p:cNvPr>
          <p:cNvSpPr>
            <a:spLocks noGrp="1"/>
          </p:cNvSpPr>
          <p:nvPr>
            <p:ph type="ctrTitle"/>
          </p:nvPr>
        </p:nvSpPr>
        <p:spPr/>
        <p:txBody>
          <a:bodyPr/>
          <a:lstStyle/>
          <a:p>
            <a:pPr algn="ctr"/>
            <a:r>
              <a:rPr lang="en-US" dirty="0"/>
              <a:t>THANK YOU</a:t>
            </a:r>
            <a:endParaRPr lang="en-IN" dirty="0"/>
          </a:p>
        </p:txBody>
      </p:sp>
    </p:spTree>
    <p:extLst>
      <p:ext uri="{BB962C8B-B14F-4D97-AF65-F5344CB8AC3E}">
        <p14:creationId xmlns:p14="http://schemas.microsoft.com/office/powerpoint/2010/main" val="2858931668"/>
      </p:ext>
    </p:extLst>
  </p:cSld>
  <p:clrMapOvr>
    <a:masterClrMapping/>
  </p:clrMapOvr>
</p:sld>
</file>

<file path=ppt/theme/theme1.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Cordelia · SlidesCarnival</Template>
  <TotalTime>172</TotalTime>
  <Words>1515</Words>
  <Application>Microsoft Office PowerPoint</Application>
  <PresentationFormat>Widescreen</PresentationFormat>
  <Paragraphs>107</Paragraphs>
  <Slides>18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Cambria</vt:lpstr>
      <vt:lpstr>Cambria Math</vt:lpstr>
      <vt:lpstr>Roboto Slab</vt:lpstr>
      <vt:lpstr>Source Sans Pro</vt:lpstr>
      <vt:lpstr>Symbol</vt:lpstr>
      <vt:lpstr>Times New Roman</vt:lpstr>
      <vt:lpstr>Cordelia template</vt:lpstr>
      <vt:lpstr>Information Security Using Play Color Cipher </vt:lpstr>
      <vt:lpstr>OVERVIEW</vt:lpstr>
      <vt:lpstr>ABSTRACT</vt:lpstr>
      <vt:lpstr>PLAY COLOR CIPHER</vt:lpstr>
      <vt:lpstr>Why RSA is used?</vt:lpstr>
      <vt:lpstr>RSA Algorithm</vt:lpstr>
      <vt:lpstr>PowerPoint Presentation</vt:lpstr>
      <vt:lpstr>Algorithm used</vt:lpstr>
      <vt:lpstr>PowerPoint Presentation</vt:lpstr>
      <vt:lpstr>PowerPoint Presentation</vt:lpstr>
      <vt:lpstr>PowerPoint Presentation</vt:lpstr>
      <vt:lpstr>EXAMPLE</vt:lpstr>
      <vt:lpstr>PowerPoint Presentation</vt:lpstr>
      <vt:lpstr>CRYPTANALYSIS </vt:lpstr>
      <vt:lpstr>ADVANTAGES &amp; DISADVANTAGES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 Using Play Color Cipher </dc:title>
  <dc:creator>pravallika</dc:creator>
  <cp:lastModifiedBy>Vinay</cp:lastModifiedBy>
  <cp:revision>9</cp:revision>
  <dcterms:created xsi:type="dcterms:W3CDTF">2022-04-07T19:08:30Z</dcterms:created>
  <dcterms:modified xsi:type="dcterms:W3CDTF">2023-02-17T03:31:01Z</dcterms:modified>
</cp:coreProperties>
</file>